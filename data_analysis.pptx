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648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262D45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262D45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262D45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262D45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1054100"/>
            <a:ext cx="821182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262D45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1975" y="2012156"/>
            <a:ext cx="10306050" cy="3362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87375" y="2225675"/>
            <a:ext cx="5535930" cy="1111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spc="-200" dirty="0">
                <a:solidFill>
                  <a:srgbClr val="262D44"/>
                </a:solidFill>
              </a:rPr>
              <a:t>Customer</a:t>
            </a:r>
            <a:r>
              <a:rPr spc="-210" dirty="0">
                <a:solidFill>
                  <a:srgbClr val="262D44"/>
                </a:solidFill>
              </a:rPr>
              <a:t> </a:t>
            </a:r>
            <a:r>
              <a:rPr spc="-155" dirty="0">
                <a:solidFill>
                  <a:srgbClr val="262D44"/>
                </a:solidFill>
              </a:rPr>
              <a:t>Shopping</a:t>
            </a:r>
            <a:r>
              <a:rPr spc="-210" dirty="0">
                <a:solidFill>
                  <a:srgbClr val="262D44"/>
                </a:solidFill>
              </a:rPr>
              <a:t> </a:t>
            </a:r>
            <a:r>
              <a:rPr spc="-60" dirty="0">
                <a:solidFill>
                  <a:srgbClr val="262D44"/>
                </a:solidFill>
              </a:rPr>
              <a:t>Behavior </a:t>
            </a:r>
            <a:r>
              <a:rPr spc="-10" dirty="0">
                <a:solidFill>
                  <a:srgbClr val="262D44"/>
                </a:solidFill>
              </a:rPr>
              <a:t>Analysis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7375" y="3526790"/>
            <a:ext cx="541845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10" dirty="0">
                <a:solidFill>
                  <a:srgbClr val="2C3149"/>
                </a:solidFill>
                <a:latin typeface="Trebuchet MS"/>
                <a:cs typeface="Trebuchet MS"/>
              </a:rPr>
              <a:t>3,900</a:t>
            </a:r>
            <a:r>
              <a:rPr sz="1350" spc="10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2C3149"/>
                </a:solidFill>
                <a:latin typeface="Trebuchet MS"/>
                <a:cs typeface="Trebuchet MS"/>
              </a:rPr>
              <a:t>purchases</a:t>
            </a:r>
            <a:r>
              <a:rPr sz="1350" spc="10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350" spc="60" dirty="0">
                <a:solidFill>
                  <a:srgbClr val="2C3149"/>
                </a:solidFill>
                <a:latin typeface="Trebuchet MS"/>
                <a:cs typeface="Trebuchet MS"/>
              </a:rPr>
              <a:t>across</a:t>
            </a:r>
            <a:r>
              <a:rPr sz="1350" spc="10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2C3149"/>
                </a:solidFill>
                <a:latin typeface="Trebuchet MS"/>
                <a:cs typeface="Trebuchet MS"/>
              </a:rPr>
              <a:t>product</a:t>
            </a:r>
            <a:r>
              <a:rPr sz="1350" spc="10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2C3149"/>
                </a:solidFill>
                <a:latin typeface="Trebuchet MS"/>
                <a:cs typeface="Trebuchet MS"/>
              </a:rPr>
              <a:t>categories</a:t>
            </a:r>
            <a:r>
              <a:rPr sz="1350" spc="10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350" spc="355" dirty="0">
                <a:solidFill>
                  <a:srgbClr val="2C3149"/>
                </a:solidFill>
                <a:latin typeface="Trebuchet MS"/>
                <a:cs typeface="Trebuchet MS"/>
              </a:rPr>
              <a:t>—</a:t>
            </a:r>
            <a:r>
              <a:rPr sz="1350" spc="10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2C3149"/>
                </a:solidFill>
                <a:latin typeface="Trebuchet MS"/>
                <a:cs typeface="Trebuchet MS"/>
              </a:rPr>
              <a:t>uncovering</a:t>
            </a:r>
            <a:r>
              <a:rPr sz="1350" spc="10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2C3149"/>
                </a:solidFill>
                <a:latin typeface="Trebuchet MS"/>
                <a:cs typeface="Trebuchet MS"/>
              </a:rPr>
              <a:t>spending </a:t>
            </a:r>
            <a:r>
              <a:rPr sz="1350" spc="10" dirty="0">
                <a:solidFill>
                  <a:srgbClr val="2C3149"/>
                </a:solidFill>
                <a:latin typeface="Trebuchet MS"/>
                <a:cs typeface="Trebuchet MS"/>
              </a:rPr>
              <a:t>patterns,</a:t>
            </a:r>
            <a:r>
              <a:rPr sz="1350" spc="75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350" spc="10" dirty="0">
                <a:solidFill>
                  <a:srgbClr val="2C3149"/>
                </a:solidFill>
                <a:latin typeface="Trebuchet MS"/>
                <a:cs typeface="Trebuchet MS"/>
              </a:rPr>
              <a:t>segments,</a:t>
            </a:r>
            <a:r>
              <a:rPr sz="1350" spc="80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2C3149"/>
                </a:solidFill>
                <a:latin typeface="Trebuchet MS"/>
                <a:cs typeface="Trebuchet MS"/>
              </a:rPr>
              <a:t>and</a:t>
            </a:r>
            <a:r>
              <a:rPr sz="1350" spc="80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2C3149"/>
                </a:solidFill>
                <a:latin typeface="Trebuchet MS"/>
                <a:cs typeface="Trebuchet MS"/>
              </a:rPr>
              <a:t>subscription</a:t>
            </a:r>
            <a:r>
              <a:rPr sz="1350" spc="80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2C3149"/>
                </a:solidFill>
                <a:latin typeface="Trebuchet MS"/>
                <a:cs typeface="Trebuchet MS"/>
              </a:rPr>
              <a:t>behavior.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4A3FB3-3CE0-DB33-A018-6DF3333497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5516798"/>
            <a:ext cx="4800600" cy="922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70243" y="919476"/>
            <a:ext cx="1541780" cy="260350"/>
          </a:xfrm>
          <a:custGeom>
            <a:avLst/>
            <a:gdLst/>
            <a:ahLst/>
            <a:cxnLst/>
            <a:rect l="l" t="t" r="r" b="b"/>
            <a:pathLst>
              <a:path w="1541780" h="260350">
                <a:moveTo>
                  <a:pt x="1501146" y="260053"/>
                </a:moveTo>
                <a:lnTo>
                  <a:pt x="40602" y="260053"/>
                </a:lnTo>
                <a:lnTo>
                  <a:pt x="34631" y="258866"/>
                </a:lnTo>
                <a:lnTo>
                  <a:pt x="1187" y="225422"/>
                </a:lnTo>
                <a:lnTo>
                  <a:pt x="0" y="219451"/>
                </a:lnTo>
                <a:lnTo>
                  <a:pt x="0" y="213244"/>
                </a:lnTo>
                <a:lnTo>
                  <a:pt x="0" y="40602"/>
                </a:lnTo>
                <a:lnTo>
                  <a:pt x="23161" y="5938"/>
                </a:lnTo>
                <a:lnTo>
                  <a:pt x="40602" y="0"/>
                </a:lnTo>
                <a:lnTo>
                  <a:pt x="1501146" y="0"/>
                </a:lnTo>
                <a:lnTo>
                  <a:pt x="1535809" y="23161"/>
                </a:lnTo>
                <a:lnTo>
                  <a:pt x="1541748" y="40602"/>
                </a:lnTo>
                <a:lnTo>
                  <a:pt x="1541748" y="219451"/>
                </a:lnTo>
                <a:lnTo>
                  <a:pt x="1518586" y="254115"/>
                </a:lnTo>
                <a:lnTo>
                  <a:pt x="1507117" y="258866"/>
                </a:lnTo>
                <a:lnTo>
                  <a:pt x="1501146" y="260053"/>
                </a:lnTo>
                <a:close/>
              </a:path>
            </a:pathLst>
          </a:custGeom>
          <a:solidFill>
            <a:srgbClr val="DEEC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57820" y="930924"/>
            <a:ext cx="136398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60" dirty="0">
                <a:solidFill>
                  <a:srgbClr val="2B3249"/>
                </a:solidFill>
                <a:latin typeface="Trebuchet MS"/>
                <a:cs typeface="Trebuchet MS"/>
              </a:rPr>
              <a:t>DATASET</a:t>
            </a:r>
            <a:r>
              <a:rPr sz="1050" spc="-2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050" spc="70" dirty="0">
                <a:solidFill>
                  <a:srgbClr val="2B3249"/>
                </a:solidFill>
                <a:latin typeface="Trebuchet MS"/>
                <a:cs typeface="Trebuchet MS"/>
              </a:rPr>
              <a:t>OVERVIEW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57543" y="1194693"/>
            <a:ext cx="2765425" cy="527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300" spc="-185" dirty="0"/>
              <a:t>Inside</a:t>
            </a:r>
            <a:r>
              <a:rPr sz="3300" spc="-260" dirty="0"/>
              <a:t> </a:t>
            </a:r>
            <a:r>
              <a:rPr sz="3300" spc="-145" dirty="0"/>
              <a:t>the</a:t>
            </a:r>
            <a:r>
              <a:rPr sz="3300" spc="-254" dirty="0"/>
              <a:t> </a:t>
            </a:r>
            <a:r>
              <a:rPr sz="3300" spc="-120" dirty="0"/>
              <a:t>Data</a:t>
            </a:r>
            <a:endParaRPr sz="3300"/>
          </a:p>
        </p:txBody>
      </p:sp>
      <p:sp>
        <p:nvSpPr>
          <p:cNvPr id="5" name="object 5"/>
          <p:cNvSpPr txBox="1"/>
          <p:nvPr/>
        </p:nvSpPr>
        <p:spPr>
          <a:xfrm>
            <a:off x="7295950" y="1507159"/>
            <a:ext cx="1007744" cy="2606040"/>
          </a:xfrm>
          <a:prstGeom prst="rect">
            <a:avLst/>
          </a:prstGeom>
        </p:spPr>
        <p:txBody>
          <a:bodyPr vert="horz" wrap="square" lIns="0" tIns="3454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20"/>
              </a:spcBef>
            </a:pPr>
            <a:r>
              <a:rPr sz="4350" spc="-855" dirty="0">
                <a:solidFill>
                  <a:srgbClr val="2B3249"/>
                </a:solidFill>
                <a:latin typeface="Lucida Sans Unicode"/>
                <a:cs typeface="Lucida Sans Unicode"/>
              </a:rPr>
              <a:t>18</a:t>
            </a:r>
            <a:endParaRPr sz="43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650" spc="-10" dirty="0">
                <a:solidFill>
                  <a:srgbClr val="2B3249"/>
                </a:solidFill>
                <a:latin typeface="Lucida Sans Unicode"/>
                <a:cs typeface="Lucida Sans Unicode"/>
              </a:rPr>
              <a:t>Columns</a:t>
            </a:r>
            <a:endParaRPr sz="16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1390"/>
              </a:spcBef>
            </a:pPr>
            <a:r>
              <a:rPr sz="4350" spc="-605" dirty="0">
                <a:solidFill>
                  <a:srgbClr val="2B3249"/>
                </a:solidFill>
                <a:latin typeface="Lucida Sans Unicode"/>
                <a:cs typeface="Lucida Sans Unicode"/>
              </a:rPr>
              <a:t>3.75</a:t>
            </a:r>
            <a:endParaRPr sz="43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sz="1650" spc="-114" dirty="0">
                <a:solidFill>
                  <a:srgbClr val="2B3249"/>
                </a:solidFill>
                <a:latin typeface="Lucida Sans Unicode"/>
                <a:cs typeface="Lucida Sans Unicode"/>
              </a:rPr>
              <a:t>Avg</a:t>
            </a:r>
            <a:r>
              <a:rPr sz="1650" spc="-120" dirty="0">
                <a:solidFill>
                  <a:srgbClr val="2B3249"/>
                </a:solidFill>
                <a:latin typeface="Lucida Sans Unicode"/>
                <a:cs typeface="Lucida Sans Unicode"/>
              </a:rPr>
              <a:t> </a:t>
            </a:r>
            <a:r>
              <a:rPr sz="1650" spc="-55" dirty="0">
                <a:solidFill>
                  <a:srgbClr val="2B3249"/>
                </a:solidFill>
                <a:latin typeface="Lucida Sans Unicode"/>
                <a:cs typeface="Lucida Sans Unicode"/>
              </a:rPr>
              <a:t>Rating</a:t>
            </a:r>
            <a:endParaRPr sz="165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9530" y="4662396"/>
            <a:ext cx="65013" cy="6501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9530" y="4894588"/>
            <a:ext cx="65013" cy="650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9530" y="5126778"/>
            <a:ext cx="65013" cy="6501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9530" y="5349682"/>
            <a:ext cx="65013" cy="6501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57543" y="1507159"/>
            <a:ext cx="4210685" cy="3990975"/>
          </a:xfrm>
          <a:prstGeom prst="rect">
            <a:avLst/>
          </a:prstGeom>
        </p:spPr>
        <p:txBody>
          <a:bodyPr vert="horz" wrap="square" lIns="0" tIns="345440" rIns="0" bIns="0" rtlCol="0">
            <a:spAutoFit/>
          </a:bodyPr>
          <a:lstStyle/>
          <a:p>
            <a:pPr marL="165100" algn="ctr">
              <a:lnSpc>
                <a:spcPct val="100000"/>
              </a:lnSpc>
              <a:spcBef>
                <a:spcPts val="2720"/>
              </a:spcBef>
            </a:pPr>
            <a:r>
              <a:rPr sz="4350" spc="-55" dirty="0">
                <a:solidFill>
                  <a:srgbClr val="2B3249"/>
                </a:solidFill>
                <a:latin typeface="Lucida Sans Unicode"/>
                <a:cs typeface="Lucida Sans Unicode"/>
              </a:rPr>
              <a:t>3,900</a:t>
            </a:r>
            <a:endParaRPr sz="4350">
              <a:latin typeface="Lucida Sans Unicode"/>
              <a:cs typeface="Lucida Sans Unicode"/>
            </a:endParaRPr>
          </a:p>
          <a:p>
            <a:pPr marL="165100" algn="ctr">
              <a:lnSpc>
                <a:spcPct val="100000"/>
              </a:lnSpc>
              <a:spcBef>
                <a:spcPts val="990"/>
              </a:spcBef>
            </a:pPr>
            <a:r>
              <a:rPr sz="1650" spc="-10" dirty="0">
                <a:solidFill>
                  <a:srgbClr val="2B3249"/>
                </a:solidFill>
                <a:latin typeface="Lucida Sans Unicode"/>
                <a:cs typeface="Lucida Sans Unicode"/>
              </a:rPr>
              <a:t>Transactions</a:t>
            </a:r>
            <a:endParaRPr sz="1650">
              <a:latin typeface="Lucida Sans Unicode"/>
              <a:cs typeface="Lucida Sans Unicode"/>
            </a:endParaRPr>
          </a:p>
          <a:p>
            <a:pPr marL="165100" algn="ctr">
              <a:lnSpc>
                <a:spcPct val="100000"/>
              </a:lnSpc>
              <a:spcBef>
                <a:spcPts val="1390"/>
              </a:spcBef>
            </a:pPr>
            <a:r>
              <a:rPr sz="4350" spc="-475" dirty="0">
                <a:solidFill>
                  <a:srgbClr val="2B3249"/>
                </a:solidFill>
                <a:latin typeface="Lucida Sans Unicode"/>
                <a:cs typeface="Lucida Sans Unicode"/>
              </a:rPr>
              <a:t>$59.76</a:t>
            </a:r>
            <a:endParaRPr sz="4350">
              <a:latin typeface="Lucida Sans Unicode"/>
              <a:cs typeface="Lucida Sans Unicode"/>
            </a:endParaRPr>
          </a:p>
          <a:p>
            <a:pPr marL="165100" algn="ctr">
              <a:lnSpc>
                <a:spcPct val="100000"/>
              </a:lnSpc>
              <a:spcBef>
                <a:spcPts val="919"/>
              </a:spcBef>
            </a:pPr>
            <a:r>
              <a:rPr sz="1650" spc="-114" dirty="0">
                <a:solidFill>
                  <a:srgbClr val="2B3249"/>
                </a:solidFill>
                <a:latin typeface="Lucida Sans Unicode"/>
                <a:cs typeface="Lucida Sans Unicode"/>
              </a:rPr>
              <a:t>Avg</a:t>
            </a:r>
            <a:r>
              <a:rPr sz="1650" spc="-120" dirty="0">
                <a:solidFill>
                  <a:srgbClr val="2B3249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B3249"/>
                </a:solidFill>
                <a:latin typeface="Lucida Sans Unicode"/>
                <a:cs typeface="Lucida Sans Unicode"/>
              </a:rPr>
              <a:t>Purchase</a:t>
            </a:r>
            <a:endParaRPr sz="16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650" spc="-90" dirty="0">
                <a:solidFill>
                  <a:srgbClr val="262D45"/>
                </a:solidFill>
                <a:latin typeface="Lucida Sans Unicode"/>
                <a:cs typeface="Lucida Sans Unicode"/>
              </a:rPr>
              <a:t>Key</a:t>
            </a:r>
            <a:r>
              <a:rPr sz="1650" spc="-130" dirty="0">
                <a:solidFill>
                  <a:srgbClr val="262D45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62D45"/>
                </a:solidFill>
                <a:latin typeface="Lucida Sans Unicode"/>
                <a:cs typeface="Lucida Sans Unicode"/>
              </a:rPr>
              <a:t>Features</a:t>
            </a:r>
            <a:endParaRPr sz="1650">
              <a:latin typeface="Lucida Sans Unicode"/>
              <a:cs typeface="Lucida Sans Unicode"/>
            </a:endParaRPr>
          </a:p>
          <a:p>
            <a:pPr marL="279400" marR="5080">
              <a:lnSpc>
                <a:spcPct val="115599"/>
              </a:lnSpc>
              <a:spcBef>
                <a:spcPts val="615"/>
              </a:spcBef>
            </a:pPr>
            <a:r>
              <a:rPr sz="1300" spc="80" dirty="0">
                <a:solidFill>
                  <a:srgbClr val="2B3249"/>
                </a:solidFill>
                <a:latin typeface="Trebuchet MS"/>
                <a:cs typeface="Trebuchet MS"/>
              </a:rPr>
              <a:t>Customer</a:t>
            </a:r>
            <a:r>
              <a:rPr sz="1300" spc="-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00" spc="50" dirty="0">
                <a:solidFill>
                  <a:srgbClr val="2B3249"/>
                </a:solidFill>
                <a:latin typeface="Trebuchet MS"/>
                <a:cs typeface="Trebuchet MS"/>
              </a:rPr>
              <a:t>demographics:</a:t>
            </a:r>
            <a:r>
              <a:rPr sz="1300" dirty="0">
                <a:solidFill>
                  <a:srgbClr val="2B3249"/>
                </a:solidFill>
                <a:latin typeface="Trebuchet MS"/>
                <a:cs typeface="Trebuchet MS"/>
              </a:rPr>
              <a:t> Age, Gender, </a:t>
            </a:r>
            <a:r>
              <a:rPr sz="1300" spc="50" dirty="0">
                <a:solidFill>
                  <a:srgbClr val="2B3249"/>
                </a:solidFill>
                <a:latin typeface="Trebuchet MS"/>
                <a:cs typeface="Trebuchet MS"/>
              </a:rPr>
              <a:t>Location </a:t>
            </a:r>
            <a:r>
              <a:rPr sz="1300" spc="60" dirty="0">
                <a:solidFill>
                  <a:srgbClr val="2B3249"/>
                </a:solidFill>
                <a:latin typeface="Trebuchet MS"/>
                <a:cs typeface="Trebuchet MS"/>
              </a:rPr>
              <a:t>Purchase</a:t>
            </a:r>
            <a:r>
              <a:rPr sz="1300" spc="-3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B3249"/>
                </a:solidFill>
                <a:latin typeface="Trebuchet MS"/>
                <a:cs typeface="Trebuchet MS"/>
              </a:rPr>
              <a:t>details:</a:t>
            </a:r>
            <a:r>
              <a:rPr sz="1300" spc="-3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00" spc="45" dirty="0">
                <a:solidFill>
                  <a:srgbClr val="2B3249"/>
                </a:solidFill>
                <a:latin typeface="Trebuchet MS"/>
                <a:cs typeface="Trebuchet MS"/>
              </a:rPr>
              <a:t>Category,</a:t>
            </a:r>
            <a:r>
              <a:rPr sz="1300" spc="-2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2B3249"/>
                </a:solidFill>
                <a:latin typeface="Trebuchet MS"/>
                <a:cs typeface="Trebuchet MS"/>
              </a:rPr>
              <a:t>Amount,</a:t>
            </a:r>
            <a:r>
              <a:rPr sz="1300" spc="-3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00" spc="55" dirty="0">
                <a:solidFill>
                  <a:srgbClr val="2B3249"/>
                </a:solidFill>
                <a:latin typeface="Trebuchet MS"/>
                <a:cs typeface="Trebuchet MS"/>
              </a:rPr>
              <a:t>Season,</a:t>
            </a:r>
            <a:r>
              <a:rPr sz="1300" spc="-3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00" spc="35" dirty="0">
                <a:solidFill>
                  <a:srgbClr val="2B3249"/>
                </a:solidFill>
                <a:latin typeface="Trebuchet MS"/>
                <a:cs typeface="Trebuchet MS"/>
              </a:rPr>
              <a:t>Size </a:t>
            </a:r>
            <a:r>
              <a:rPr sz="1300" spc="75" dirty="0">
                <a:solidFill>
                  <a:srgbClr val="2B3249"/>
                </a:solidFill>
                <a:latin typeface="Trebuchet MS"/>
                <a:cs typeface="Trebuchet MS"/>
              </a:rPr>
              <a:t>Shopping</a:t>
            </a:r>
            <a:r>
              <a:rPr sz="1300" spc="10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B3249"/>
                </a:solidFill>
                <a:latin typeface="Trebuchet MS"/>
                <a:cs typeface="Trebuchet MS"/>
              </a:rPr>
              <a:t>behavior:</a:t>
            </a:r>
            <a:r>
              <a:rPr sz="1300" spc="10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00" spc="60" dirty="0">
                <a:solidFill>
                  <a:srgbClr val="2B3249"/>
                </a:solidFill>
                <a:latin typeface="Trebuchet MS"/>
                <a:cs typeface="Trebuchet MS"/>
              </a:rPr>
              <a:t>Discounts,</a:t>
            </a:r>
            <a:r>
              <a:rPr sz="1300" spc="10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B3249"/>
                </a:solidFill>
                <a:latin typeface="Trebuchet MS"/>
                <a:cs typeface="Trebuchet MS"/>
              </a:rPr>
              <a:t>Reviews,</a:t>
            </a:r>
            <a:r>
              <a:rPr sz="1300" spc="11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00" spc="55" dirty="0">
                <a:solidFill>
                  <a:srgbClr val="2B3249"/>
                </a:solidFill>
                <a:latin typeface="Trebuchet MS"/>
                <a:cs typeface="Trebuchet MS"/>
              </a:rPr>
              <a:t>Shipping </a:t>
            </a:r>
            <a:r>
              <a:rPr sz="1300" dirty="0">
                <a:solidFill>
                  <a:srgbClr val="2B3249"/>
                </a:solidFill>
                <a:latin typeface="Trebuchet MS"/>
                <a:cs typeface="Trebuchet MS"/>
              </a:rPr>
              <a:t>37</a:t>
            </a:r>
            <a:r>
              <a:rPr sz="1300" spc="2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00" spc="75" dirty="0">
                <a:solidFill>
                  <a:srgbClr val="2B3249"/>
                </a:solidFill>
                <a:latin typeface="Trebuchet MS"/>
                <a:cs typeface="Trebuchet MS"/>
              </a:rPr>
              <a:t>missing</a:t>
            </a:r>
            <a:r>
              <a:rPr sz="1300" spc="3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B3249"/>
                </a:solidFill>
                <a:latin typeface="Trebuchet MS"/>
                <a:cs typeface="Trebuchet MS"/>
              </a:rPr>
              <a:t>values</a:t>
            </a:r>
            <a:r>
              <a:rPr sz="1300" spc="3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B3249"/>
                </a:solidFill>
                <a:latin typeface="Trebuchet MS"/>
                <a:cs typeface="Trebuchet MS"/>
              </a:rPr>
              <a:t>in</a:t>
            </a:r>
            <a:r>
              <a:rPr sz="1300" spc="3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00" spc="50" dirty="0">
                <a:solidFill>
                  <a:srgbClr val="2B3249"/>
                </a:solidFill>
                <a:latin typeface="Trebuchet MS"/>
                <a:cs typeface="Trebuchet MS"/>
              </a:rPr>
              <a:t>Review</a:t>
            </a:r>
            <a:r>
              <a:rPr sz="1300" spc="2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00" spc="55" dirty="0">
                <a:solidFill>
                  <a:srgbClr val="2B3249"/>
                </a:solidFill>
                <a:latin typeface="Trebuchet MS"/>
                <a:cs typeface="Trebuchet MS"/>
              </a:rPr>
              <a:t>Rating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11" name="object 11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41511" y="5938890"/>
            <a:ext cx="1710783" cy="4086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A235CD-CC59-CE5D-1F6F-4F6F6F838E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5516798"/>
            <a:ext cx="4800600" cy="922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9555" y="840365"/>
            <a:ext cx="1137920" cy="238125"/>
          </a:xfrm>
          <a:custGeom>
            <a:avLst/>
            <a:gdLst/>
            <a:ahLst/>
            <a:cxnLst/>
            <a:rect l="l" t="t" r="r" b="b"/>
            <a:pathLst>
              <a:path w="1137920" h="238125">
                <a:moveTo>
                  <a:pt x="1100355" y="237679"/>
                </a:moveTo>
                <a:lnTo>
                  <a:pt x="37108" y="237679"/>
                </a:lnTo>
                <a:lnTo>
                  <a:pt x="31651" y="236593"/>
                </a:lnTo>
                <a:lnTo>
                  <a:pt x="1085" y="206027"/>
                </a:lnTo>
                <a:lnTo>
                  <a:pt x="0" y="200570"/>
                </a:lnTo>
                <a:lnTo>
                  <a:pt x="0" y="194896"/>
                </a:lnTo>
                <a:lnTo>
                  <a:pt x="0" y="37108"/>
                </a:lnTo>
                <a:lnTo>
                  <a:pt x="21168" y="5427"/>
                </a:lnTo>
                <a:lnTo>
                  <a:pt x="37108" y="0"/>
                </a:lnTo>
                <a:lnTo>
                  <a:pt x="1100355" y="0"/>
                </a:lnTo>
                <a:lnTo>
                  <a:pt x="1132036" y="21168"/>
                </a:lnTo>
                <a:lnTo>
                  <a:pt x="1137463" y="37108"/>
                </a:lnTo>
                <a:lnTo>
                  <a:pt x="1137463" y="200570"/>
                </a:lnTo>
                <a:lnTo>
                  <a:pt x="1116295" y="232251"/>
                </a:lnTo>
                <a:lnTo>
                  <a:pt x="1105812" y="236593"/>
                </a:lnTo>
                <a:lnTo>
                  <a:pt x="1100355" y="237679"/>
                </a:lnTo>
                <a:close/>
              </a:path>
            </a:pathLst>
          </a:custGeom>
          <a:solidFill>
            <a:srgbClr val="DEEC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48505" y="849735"/>
            <a:ext cx="98361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75" dirty="0">
                <a:solidFill>
                  <a:srgbClr val="2B3249"/>
                </a:solidFill>
                <a:latin typeface="Trebuchet MS"/>
                <a:cs typeface="Trebuchet MS"/>
              </a:rPr>
              <a:t>METHODOLOGY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1965">
              <a:lnSpc>
                <a:spcPct val="100000"/>
              </a:lnSpc>
              <a:spcBef>
                <a:spcPts val="105"/>
              </a:spcBef>
            </a:pPr>
            <a:r>
              <a:rPr sz="3000" spc="-55" dirty="0"/>
              <a:t>Python</a:t>
            </a:r>
            <a:r>
              <a:rPr sz="3000" spc="-220" dirty="0"/>
              <a:t> </a:t>
            </a:r>
            <a:r>
              <a:rPr sz="3000" spc="-175" dirty="0"/>
              <a:t>EDA</a:t>
            </a:r>
            <a:r>
              <a:rPr sz="3000" spc="-215" dirty="0"/>
              <a:t> </a:t>
            </a:r>
            <a:r>
              <a:rPr sz="3000" spc="-70" dirty="0"/>
              <a:t>Pipeline</a:t>
            </a:r>
            <a:endParaRPr sz="3000"/>
          </a:p>
        </p:txBody>
      </p:sp>
      <p:grpSp>
        <p:nvGrpSpPr>
          <p:cNvPr id="5" name="object 5"/>
          <p:cNvGrpSpPr/>
          <p:nvPr/>
        </p:nvGrpSpPr>
        <p:grpSpPr>
          <a:xfrm>
            <a:off x="1252344" y="1846404"/>
            <a:ext cx="7683500" cy="3144520"/>
            <a:chOff x="1252344" y="1846404"/>
            <a:chExt cx="7683500" cy="3144520"/>
          </a:xfrm>
        </p:grpSpPr>
        <p:sp>
          <p:nvSpPr>
            <p:cNvPr id="6" name="object 6"/>
            <p:cNvSpPr/>
            <p:nvPr/>
          </p:nvSpPr>
          <p:spPr>
            <a:xfrm>
              <a:off x="1257119" y="4233045"/>
              <a:ext cx="7673975" cy="753110"/>
            </a:xfrm>
            <a:custGeom>
              <a:avLst/>
              <a:gdLst/>
              <a:ahLst/>
              <a:cxnLst/>
              <a:rect l="l" t="t" r="r" b="b"/>
              <a:pathLst>
                <a:path w="7673975" h="753110">
                  <a:moveTo>
                    <a:pt x="7289668" y="752629"/>
                  </a:moveTo>
                  <a:lnTo>
                    <a:pt x="7289668" y="659841"/>
                  </a:lnTo>
                  <a:lnTo>
                    <a:pt x="0" y="659841"/>
                  </a:lnTo>
                  <a:lnTo>
                    <a:pt x="0" y="96562"/>
                  </a:lnTo>
                  <a:lnTo>
                    <a:pt x="7289668" y="96562"/>
                  </a:lnTo>
                  <a:lnTo>
                    <a:pt x="7289668" y="0"/>
                  </a:lnTo>
                  <a:lnTo>
                    <a:pt x="7673599" y="376318"/>
                  </a:lnTo>
                  <a:lnTo>
                    <a:pt x="7289668" y="752629"/>
                  </a:lnTo>
                  <a:close/>
                </a:path>
              </a:pathLst>
            </a:custGeom>
            <a:solidFill>
              <a:srgbClr val="5B98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57119" y="4233045"/>
              <a:ext cx="7673975" cy="753110"/>
            </a:xfrm>
            <a:custGeom>
              <a:avLst/>
              <a:gdLst/>
              <a:ahLst/>
              <a:cxnLst/>
              <a:rect l="l" t="t" r="r" b="b"/>
              <a:pathLst>
                <a:path w="7673975" h="753110">
                  <a:moveTo>
                    <a:pt x="7673599" y="376318"/>
                  </a:moveTo>
                  <a:lnTo>
                    <a:pt x="7289668" y="752629"/>
                  </a:lnTo>
                  <a:lnTo>
                    <a:pt x="7289668" y="659841"/>
                  </a:lnTo>
                  <a:lnTo>
                    <a:pt x="0" y="659841"/>
                  </a:lnTo>
                  <a:lnTo>
                    <a:pt x="0" y="96562"/>
                  </a:lnTo>
                  <a:lnTo>
                    <a:pt x="7289668" y="96562"/>
                  </a:lnTo>
                  <a:lnTo>
                    <a:pt x="7289668" y="0"/>
                  </a:lnTo>
                  <a:lnTo>
                    <a:pt x="7673599" y="376318"/>
                  </a:lnTo>
                  <a:close/>
                </a:path>
              </a:pathLst>
            </a:custGeom>
            <a:ln w="9549">
              <a:solidFill>
                <a:srgbClr val="C4D1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57119" y="3438797"/>
              <a:ext cx="6949440" cy="753110"/>
            </a:xfrm>
            <a:custGeom>
              <a:avLst/>
              <a:gdLst/>
              <a:ahLst/>
              <a:cxnLst/>
              <a:rect l="l" t="t" r="r" b="b"/>
              <a:pathLst>
                <a:path w="6949440" h="753110">
                  <a:moveTo>
                    <a:pt x="6565452" y="752629"/>
                  </a:moveTo>
                  <a:lnTo>
                    <a:pt x="6565452" y="657451"/>
                  </a:lnTo>
                  <a:lnTo>
                    <a:pt x="0" y="657451"/>
                  </a:lnTo>
                  <a:lnTo>
                    <a:pt x="0" y="94172"/>
                  </a:lnTo>
                  <a:lnTo>
                    <a:pt x="6565452" y="94172"/>
                  </a:lnTo>
                  <a:lnTo>
                    <a:pt x="6565452" y="0"/>
                  </a:lnTo>
                  <a:lnTo>
                    <a:pt x="6949383" y="376310"/>
                  </a:lnTo>
                  <a:lnTo>
                    <a:pt x="6565452" y="752629"/>
                  </a:lnTo>
                  <a:close/>
                </a:path>
              </a:pathLst>
            </a:custGeom>
            <a:solidFill>
              <a:srgbClr val="4B80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57119" y="3438797"/>
              <a:ext cx="6949440" cy="753110"/>
            </a:xfrm>
            <a:custGeom>
              <a:avLst/>
              <a:gdLst/>
              <a:ahLst/>
              <a:cxnLst/>
              <a:rect l="l" t="t" r="r" b="b"/>
              <a:pathLst>
                <a:path w="6949440" h="753110">
                  <a:moveTo>
                    <a:pt x="6949383" y="376310"/>
                  </a:moveTo>
                  <a:lnTo>
                    <a:pt x="6565452" y="752629"/>
                  </a:lnTo>
                  <a:lnTo>
                    <a:pt x="6565452" y="657451"/>
                  </a:lnTo>
                  <a:lnTo>
                    <a:pt x="0" y="657451"/>
                  </a:lnTo>
                  <a:lnTo>
                    <a:pt x="0" y="94172"/>
                  </a:lnTo>
                  <a:lnTo>
                    <a:pt x="6565452" y="94172"/>
                  </a:lnTo>
                  <a:lnTo>
                    <a:pt x="6565452" y="0"/>
                  </a:lnTo>
                  <a:lnTo>
                    <a:pt x="6949383" y="376310"/>
                  </a:lnTo>
                  <a:close/>
                </a:path>
              </a:pathLst>
            </a:custGeom>
            <a:ln w="9549">
              <a:solidFill>
                <a:srgbClr val="C4D1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57119" y="2645934"/>
              <a:ext cx="6306185" cy="753110"/>
            </a:xfrm>
            <a:custGeom>
              <a:avLst/>
              <a:gdLst/>
              <a:ahLst/>
              <a:cxnLst/>
              <a:rect l="l" t="t" r="r" b="b"/>
              <a:pathLst>
                <a:path w="6306184" h="753110">
                  <a:moveTo>
                    <a:pt x="5921704" y="752629"/>
                  </a:moveTo>
                  <a:lnTo>
                    <a:pt x="5921704" y="659841"/>
                  </a:lnTo>
                  <a:lnTo>
                    <a:pt x="0" y="659841"/>
                  </a:lnTo>
                  <a:lnTo>
                    <a:pt x="0" y="96562"/>
                  </a:lnTo>
                  <a:lnTo>
                    <a:pt x="5921704" y="96562"/>
                  </a:lnTo>
                  <a:lnTo>
                    <a:pt x="5921704" y="0"/>
                  </a:lnTo>
                  <a:lnTo>
                    <a:pt x="6305635" y="376310"/>
                  </a:lnTo>
                  <a:lnTo>
                    <a:pt x="5921704" y="752629"/>
                  </a:lnTo>
                  <a:close/>
                </a:path>
              </a:pathLst>
            </a:custGeom>
            <a:solidFill>
              <a:srgbClr val="3D6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57119" y="2645934"/>
              <a:ext cx="6306185" cy="753110"/>
            </a:xfrm>
            <a:custGeom>
              <a:avLst/>
              <a:gdLst/>
              <a:ahLst/>
              <a:cxnLst/>
              <a:rect l="l" t="t" r="r" b="b"/>
              <a:pathLst>
                <a:path w="6306184" h="753110">
                  <a:moveTo>
                    <a:pt x="6305635" y="376310"/>
                  </a:moveTo>
                  <a:lnTo>
                    <a:pt x="5921704" y="752629"/>
                  </a:lnTo>
                  <a:lnTo>
                    <a:pt x="5921704" y="659841"/>
                  </a:lnTo>
                  <a:lnTo>
                    <a:pt x="0" y="659841"/>
                  </a:lnTo>
                  <a:lnTo>
                    <a:pt x="0" y="96562"/>
                  </a:lnTo>
                  <a:lnTo>
                    <a:pt x="5921704" y="96562"/>
                  </a:lnTo>
                  <a:lnTo>
                    <a:pt x="5921704" y="0"/>
                  </a:lnTo>
                  <a:lnTo>
                    <a:pt x="6305635" y="376310"/>
                  </a:lnTo>
                  <a:close/>
                </a:path>
              </a:pathLst>
            </a:custGeom>
            <a:ln w="9549">
              <a:solidFill>
                <a:srgbClr val="C4D1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57127" y="1851179"/>
              <a:ext cx="5654040" cy="753110"/>
            </a:xfrm>
            <a:custGeom>
              <a:avLst/>
              <a:gdLst/>
              <a:ahLst/>
              <a:cxnLst/>
              <a:rect l="l" t="t" r="r" b="b"/>
              <a:pathLst>
                <a:path w="5654040" h="753110">
                  <a:moveTo>
                    <a:pt x="5269910" y="752629"/>
                  </a:moveTo>
                  <a:lnTo>
                    <a:pt x="5269910" y="657958"/>
                  </a:lnTo>
                  <a:lnTo>
                    <a:pt x="0" y="657958"/>
                  </a:lnTo>
                  <a:lnTo>
                    <a:pt x="0" y="94679"/>
                  </a:lnTo>
                  <a:lnTo>
                    <a:pt x="5269910" y="94679"/>
                  </a:lnTo>
                  <a:lnTo>
                    <a:pt x="5269910" y="0"/>
                  </a:lnTo>
                  <a:lnTo>
                    <a:pt x="5653841" y="376318"/>
                  </a:lnTo>
                  <a:lnTo>
                    <a:pt x="5269910" y="752629"/>
                  </a:lnTo>
                  <a:close/>
                </a:path>
              </a:pathLst>
            </a:custGeom>
            <a:solidFill>
              <a:srgbClr val="2F4F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57127" y="1851179"/>
              <a:ext cx="5654040" cy="753110"/>
            </a:xfrm>
            <a:custGeom>
              <a:avLst/>
              <a:gdLst/>
              <a:ahLst/>
              <a:cxnLst/>
              <a:rect l="l" t="t" r="r" b="b"/>
              <a:pathLst>
                <a:path w="5654040" h="753110">
                  <a:moveTo>
                    <a:pt x="5653841" y="376318"/>
                  </a:moveTo>
                  <a:lnTo>
                    <a:pt x="5269910" y="752629"/>
                  </a:lnTo>
                  <a:lnTo>
                    <a:pt x="5269910" y="657958"/>
                  </a:lnTo>
                  <a:lnTo>
                    <a:pt x="0" y="657958"/>
                  </a:lnTo>
                  <a:lnTo>
                    <a:pt x="0" y="94679"/>
                  </a:lnTo>
                  <a:lnTo>
                    <a:pt x="5269910" y="94679"/>
                  </a:lnTo>
                  <a:lnTo>
                    <a:pt x="5269910" y="0"/>
                  </a:lnTo>
                  <a:lnTo>
                    <a:pt x="5653841" y="376318"/>
                  </a:lnTo>
                  <a:close/>
                </a:path>
              </a:pathLst>
            </a:custGeom>
            <a:ln w="9549">
              <a:solidFill>
                <a:srgbClr val="C4D1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627909" y="4473821"/>
            <a:ext cx="15944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Load</a:t>
            </a:r>
            <a:r>
              <a:rPr sz="14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sz="14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PostgreSQL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27909" y="3677183"/>
            <a:ext cx="136969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Feature</a:t>
            </a: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Engineer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27909" y="2888592"/>
            <a:ext cx="12433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Clean</a:t>
            </a:r>
            <a:r>
              <a:rPr sz="14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sz="14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Impute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27909" y="2091955"/>
            <a:ext cx="8343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Load</a:t>
            </a:r>
            <a:r>
              <a:rPr sz="14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56855" y="5190773"/>
            <a:ext cx="7868920" cy="39560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70"/>
              </a:spcBef>
            </a:pPr>
            <a:r>
              <a:rPr sz="1200" spc="50" dirty="0">
                <a:solidFill>
                  <a:srgbClr val="2B3249"/>
                </a:solidFill>
                <a:latin typeface="Trebuchet MS"/>
                <a:cs typeface="Trebuchet MS"/>
              </a:rPr>
              <a:t>Imported</a:t>
            </a:r>
            <a:r>
              <a:rPr sz="120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2B3249"/>
                </a:solidFill>
                <a:latin typeface="Trebuchet MS"/>
                <a:cs typeface="Trebuchet MS"/>
              </a:rPr>
              <a:t>with</a:t>
            </a:r>
            <a:r>
              <a:rPr sz="1200" spc="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2B3249"/>
                </a:solidFill>
                <a:latin typeface="Trebuchet MS"/>
                <a:cs typeface="Trebuchet MS"/>
              </a:rPr>
              <a:t>pandas,</a:t>
            </a:r>
            <a:r>
              <a:rPr sz="1200" spc="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2B3249"/>
                </a:solidFill>
                <a:latin typeface="Trebuchet MS"/>
                <a:cs typeface="Trebuchet MS"/>
              </a:rPr>
              <a:t>imputed</a:t>
            </a:r>
            <a:r>
              <a:rPr sz="1200" spc="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200" spc="65" dirty="0">
                <a:solidFill>
                  <a:srgbClr val="2B3249"/>
                </a:solidFill>
                <a:latin typeface="Trebuchet MS"/>
                <a:cs typeface="Trebuchet MS"/>
              </a:rPr>
              <a:t>missing</a:t>
            </a:r>
            <a:r>
              <a:rPr sz="1200" spc="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2B3249"/>
                </a:solidFill>
                <a:latin typeface="Trebuchet MS"/>
                <a:cs typeface="Trebuchet MS"/>
              </a:rPr>
              <a:t>Review</a:t>
            </a:r>
            <a:r>
              <a:rPr sz="1200" spc="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2B3249"/>
                </a:solidFill>
                <a:latin typeface="Trebuchet MS"/>
                <a:cs typeface="Trebuchet MS"/>
              </a:rPr>
              <a:t>Ratings</a:t>
            </a:r>
            <a:r>
              <a:rPr sz="1200" spc="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2B3249"/>
                </a:solidFill>
                <a:latin typeface="Trebuchet MS"/>
                <a:cs typeface="Trebuchet MS"/>
              </a:rPr>
              <a:t>by</a:t>
            </a:r>
            <a:r>
              <a:rPr sz="120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2B3249"/>
                </a:solidFill>
                <a:latin typeface="Trebuchet MS"/>
                <a:cs typeface="Trebuchet MS"/>
              </a:rPr>
              <a:t>category</a:t>
            </a:r>
            <a:r>
              <a:rPr sz="1200" spc="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2B3249"/>
                </a:solidFill>
                <a:latin typeface="Trebuchet MS"/>
                <a:cs typeface="Trebuchet MS"/>
              </a:rPr>
              <a:t>median,</a:t>
            </a:r>
            <a:r>
              <a:rPr sz="1200" spc="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200" spc="45" dirty="0">
                <a:solidFill>
                  <a:srgbClr val="2B3249"/>
                </a:solidFill>
                <a:latin typeface="Trebuchet MS"/>
                <a:cs typeface="Trebuchet MS"/>
              </a:rPr>
              <a:t>standardized</a:t>
            </a:r>
            <a:r>
              <a:rPr sz="1200" spc="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200" spc="60" dirty="0">
                <a:solidFill>
                  <a:srgbClr val="2B3249"/>
                </a:solidFill>
                <a:latin typeface="Trebuchet MS"/>
                <a:cs typeface="Trebuchet MS"/>
              </a:rPr>
              <a:t>columns</a:t>
            </a:r>
            <a:r>
              <a:rPr sz="1200" spc="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2B3249"/>
                </a:solidFill>
                <a:latin typeface="Trebuchet MS"/>
                <a:cs typeface="Trebuchet MS"/>
              </a:rPr>
              <a:t>to</a:t>
            </a:r>
            <a:r>
              <a:rPr sz="1200" spc="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200" spc="35" dirty="0">
                <a:solidFill>
                  <a:srgbClr val="2B3249"/>
                </a:solidFill>
                <a:latin typeface="Trebuchet MS"/>
                <a:cs typeface="Trebuchet MS"/>
              </a:rPr>
              <a:t>snake </a:t>
            </a:r>
            <a:r>
              <a:rPr sz="1200" spc="10" dirty="0">
                <a:solidFill>
                  <a:srgbClr val="2B3249"/>
                </a:solidFill>
                <a:latin typeface="Trebuchet MS"/>
                <a:cs typeface="Trebuchet MS"/>
              </a:rPr>
              <a:t>case,</a:t>
            </a:r>
            <a:r>
              <a:rPr sz="1200" spc="2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2B3249"/>
                </a:solidFill>
                <a:latin typeface="Trebuchet MS"/>
                <a:cs typeface="Trebuchet MS"/>
              </a:rPr>
              <a:t>engineered</a:t>
            </a:r>
            <a:r>
              <a:rPr sz="1200" spc="3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2B3249"/>
                </a:solidFill>
                <a:latin typeface="Trebuchet MS"/>
                <a:cs typeface="Trebuchet MS"/>
              </a:rPr>
              <a:t>age</a:t>
            </a:r>
            <a:r>
              <a:rPr sz="1200" spc="3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200" spc="10" dirty="0">
                <a:solidFill>
                  <a:srgbClr val="2B3249"/>
                </a:solidFill>
                <a:latin typeface="Trebuchet MS"/>
                <a:cs typeface="Trebuchet MS"/>
              </a:rPr>
              <a:t>groups,</a:t>
            </a:r>
            <a:r>
              <a:rPr sz="1200" spc="3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2B3249"/>
                </a:solidFill>
                <a:latin typeface="Trebuchet MS"/>
                <a:cs typeface="Trebuchet MS"/>
              </a:rPr>
              <a:t>and</a:t>
            </a:r>
            <a:r>
              <a:rPr sz="1200" spc="3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200" spc="45" dirty="0">
                <a:solidFill>
                  <a:srgbClr val="2B3249"/>
                </a:solidFill>
                <a:latin typeface="Trebuchet MS"/>
                <a:cs typeface="Trebuchet MS"/>
              </a:rPr>
              <a:t>dropped</a:t>
            </a:r>
            <a:r>
              <a:rPr sz="1200" spc="3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2B3249"/>
                </a:solidFill>
                <a:latin typeface="Trebuchet MS"/>
                <a:cs typeface="Trebuchet MS"/>
              </a:rPr>
              <a:t>redundant</a:t>
            </a:r>
            <a:r>
              <a:rPr sz="1200" spc="2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2B3249"/>
                </a:solidFill>
                <a:latin typeface="Trebuchet MS"/>
                <a:cs typeface="Trebuchet MS"/>
              </a:rPr>
              <a:t>promo_code_used.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19" name="object 19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37772" y="5982043"/>
            <a:ext cx="1563588" cy="37349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B4D50A3-C18B-B956-D2A6-E083D5F082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5516798"/>
            <a:ext cx="4800600" cy="922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0074" y="666749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1101359" y="323849"/>
                </a:moveTo>
                <a:lnTo>
                  <a:pt x="41639" y="323849"/>
                </a:lnTo>
                <a:lnTo>
                  <a:pt x="35516" y="322631"/>
                </a:lnTo>
                <a:lnTo>
                  <a:pt x="1218" y="288333"/>
                </a:lnTo>
                <a:lnTo>
                  <a:pt x="0" y="282209"/>
                </a:lnTo>
                <a:lnTo>
                  <a:pt x="0" y="275843"/>
                </a:lnTo>
                <a:lnTo>
                  <a:pt x="0" y="41639"/>
                </a:lnTo>
                <a:lnTo>
                  <a:pt x="23753" y="6090"/>
                </a:lnTo>
                <a:lnTo>
                  <a:pt x="41639" y="0"/>
                </a:lnTo>
                <a:lnTo>
                  <a:pt x="1101359" y="0"/>
                </a:lnTo>
                <a:lnTo>
                  <a:pt x="1136909" y="23753"/>
                </a:lnTo>
                <a:lnTo>
                  <a:pt x="1142999" y="41639"/>
                </a:lnTo>
                <a:lnTo>
                  <a:pt x="1142999" y="282209"/>
                </a:lnTo>
                <a:lnTo>
                  <a:pt x="1119246" y="317759"/>
                </a:lnTo>
                <a:lnTo>
                  <a:pt x="1107483" y="322631"/>
                </a:lnTo>
                <a:lnTo>
                  <a:pt x="1101359" y="323849"/>
                </a:lnTo>
                <a:close/>
              </a:path>
            </a:pathLst>
          </a:custGeom>
          <a:solidFill>
            <a:srgbClr val="DEEC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90215" y="716915"/>
            <a:ext cx="96710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100" dirty="0">
                <a:solidFill>
                  <a:srgbClr val="2B3249"/>
                </a:solidFill>
                <a:latin typeface="Trebuchet MS"/>
                <a:cs typeface="Trebuchet MS"/>
              </a:rPr>
              <a:t>SQL</a:t>
            </a:r>
            <a:r>
              <a:rPr sz="1050" spc="-4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2B3249"/>
                </a:solidFill>
                <a:latin typeface="Trebuchet MS"/>
                <a:cs typeface="Trebuchet MS"/>
              </a:rPr>
              <a:t>INSIGHTS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25"/>
              </a:spcBef>
            </a:pPr>
            <a:r>
              <a:rPr spc="-140" dirty="0"/>
              <a:t>Revenue</a:t>
            </a:r>
            <a:r>
              <a:rPr spc="-245" dirty="0"/>
              <a:t> </a:t>
            </a:r>
            <a:r>
              <a:rPr spc="-95" dirty="0"/>
              <a:t>by</a:t>
            </a:r>
            <a:r>
              <a:rPr spc="-245" dirty="0"/>
              <a:t> </a:t>
            </a:r>
            <a:r>
              <a:rPr spc="-150" dirty="0"/>
              <a:t>Gender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26165" y="5196684"/>
            <a:ext cx="10033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45" dirty="0">
                <a:solidFill>
                  <a:srgbClr val="2B3249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1651" y="5196684"/>
            <a:ext cx="23495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40" dirty="0">
                <a:solidFill>
                  <a:srgbClr val="2B3249"/>
                </a:solidFill>
                <a:latin typeface="Tahoma"/>
                <a:cs typeface="Tahoma"/>
              </a:rPr>
              <a:t>20k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2622" y="5196684"/>
            <a:ext cx="240029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55" dirty="0">
                <a:solidFill>
                  <a:srgbClr val="2B3249"/>
                </a:solidFill>
                <a:latin typeface="Tahoma"/>
                <a:cs typeface="Tahoma"/>
              </a:rPr>
              <a:t>40k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37314" y="5196684"/>
            <a:ext cx="236854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45" dirty="0">
                <a:solidFill>
                  <a:srgbClr val="2B3249"/>
                </a:solidFill>
                <a:latin typeface="Tahoma"/>
                <a:cs typeface="Tahoma"/>
              </a:rPr>
              <a:t>60k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93856" y="5196684"/>
            <a:ext cx="28321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20" dirty="0">
                <a:solidFill>
                  <a:srgbClr val="2B3249"/>
                </a:solidFill>
                <a:latin typeface="Tahoma"/>
                <a:cs typeface="Tahoma"/>
              </a:rPr>
              <a:t>120k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84678" y="5196684"/>
            <a:ext cx="28765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20" dirty="0">
                <a:solidFill>
                  <a:srgbClr val="2B3249"/>
                </a:solidFill>
                <a:latin typeface="Tahoma"/>
                <a:cs typeface="Tahoma"/>
              </a:rPr>
              <a:t>140k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79519" y="5196684"/>
            <a:ext cx="28448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20" dirty="0">
                <a:solidFill>
                  <a:srgbClr val="2B3249"/>
                </a:solidFill>
                <a:latin typeface="Tahoma"/>
                <a:cs typeface="Tahoma"/>
              </a:rPr>
              <a:t>160k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46915" y="5143034"/>
            <a:ext cx="938530" cy="4095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96215">
              <a:lnSpc>
                <a:spcPct val="100000"/>
              </a:lnSpc>
              <a:spcBef>
                <a:spcPts val="530"/>
              </a:spcBef>
              <a:tabLst>
                <a:tab pos="664210" algn="l"/>
              </a:tabLst>
            </a:pPr>
            <a:r>
              <a:rPr sz="900" spc="45" dirty="0">
                <a:solidFill>
                  <a:srgbClr val="2B3249"/>
                </a:solidFill>
                <a:latin typeface="Tahoma"/>
                <a:cs typeface="Tahoma"/>
              </a:rPr>
              <a:t>80k</a:t>
            </a:r>
            <a:r>
              <a:rPr sz="900" dirty="0">
                <a:solidFill>
                  <a:srgbClr val="2B3249"/>
                </a:solidFill>
                <a:latin typeface="Tahoma"/>
                <a:cs typeface="Tahoma"/>
              </a:rPr>
              <a:t>	</a:t>
            </a:r>
            <a:r>
              <a:rPr sz="900" spc="-20" dirty="0">
                <a:solidFill>
                  <a:srgbClr val="2B3249"/>
                </a:solidFill>
                <a:latin typeface="Tahoma"/>
                <a:cs typeface="Tahoma"/>
              </a:rPr>
              <a:t>100k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00" spc="10" dirty="0">
                <a:solidFill>
                  <a:srgbClr val="2B3249"/>
                </a:solidFill>
                <a:latin typeface="Tahoma"/>
                <a:cs typeface="Tahoma"/>
              </a:rPr>
              <a:t>Revenue</a:t>
            </a:r>
            <a:r>
              <a:rPr sz="900" spc="165" dirty="0">
                <a:solidFill>
                  <a:srgbClr val="2B3249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B3249"/>
                </a:solidFill>
                <a:latin typeface="Tahoma"/>
                <a:cs typeface="Tahoma"/>
              </a:rPr>
              <a:t>(USD)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21297" y="2966299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4">
                <a:moveTo>
                  <a:pt x="28132" y="10663"/>
                </a:moveTo>
                <a:lnTo>
                  <a:pt x="3859" y="10663"/>
                </a:lnTo>
                <a:lnTo>
                  <a:pt x="2602" y="10143"/>
                </a:lnTo>
                <a:lnTo>
                  <a:pt x="520" y="8061"/>
                </a:lnTo>
                <a:lnTo>
                  <a:pt x="0" y="6804"/>
                </a:lnTo>
                <a:lnTo>
                  <a:pt x="0" y="3859"/>
                </a:lnTo>
                <a:lnTo>
                  <a:pt x="520" y="2602"/>
                </a:lnTo>
                <a:lnTo>
                  <a:pt x="2602" y="520"/>
                </a:lnTo>
                <a:lnTo>
                  <a:pt x="3859" y="0"/>
                </a:lnTo>
                <a:lnTo>
                  <a:pt x="28132" y="0"/>
                </a:lnTo>
                <a:lnTo>
                  <a:pt x="29388" y="520"/>
                </a:lnTo>
                <a:lnTo>
                  <a:pt x="31471" y="2602"/>
                </a:lnTo>
                <a:lnTo>
                  <a:pt x="31991" y="3859"/>
                </a:lnTo>
                <a:lnTo>
                  <a:pt x="31991" y="6804"/>
                </a:lnTo>
                <a:lnTo>
                  <a:pt x="31471" y="8061"/>
                </a:lnTo>
                <a:lnTo>
                  <a:pt x="29388" y="10143"/>
                </a:lnTo>
                <a:lnTo>
                  <a:pt x="28132" y="10663"/>
                </a:lnTo>
                <a:close/>
              </a:path>
              <a:path w="85725" h="10794">
                <a:moveTo>
                  <a:pt x="81451" y="10663"/>
                </a:moveTo>
                <a:lnTo>
                  <a:pt x="57178" y="10663"/>
                </a:lnTo>
                <a:lnTo>
                  <a:pt x="55922" y="10143"/>
                </a:lnTo>
                <a:lnTo>
                  <a:pt x="53839" y="8061"/>
                </a:lnTo>
                <a:lnTo>
                  <a:pt x="53319" y="6804"/>
                </a:lnTo>
                <a:lnTo>
                  <a:pt x="53319" y="3859"/>
                </a:lnTo>
                <a:lnTo>
                  <a:pt x="53839" y="2602"/>
                </a:lnTo>
                <a:lnTo>
                  <a:pt x="55922" y="520"/>
                </a:lnTo>
                <a:lnTo>
                  <a:pt x="57178" y="0"/>
                </a:lnTo>
                <a:lnTo>
                  <a:pt x="81451" y="0"/>
                </a:lnTo>
                <a:lnTo>
                  <a:pt x="82708" y="520"/>
                </a:lnTo>
                <a:lnTo>
                  <a:pt x="84790" y="2602"/>
                </a:lnTo>
                <a:lnTo>
                  <a:pt x="85310" y="3859"/>
                </a:lnTo>
                <a:lnTo>
                  <a:pt x="85310" y="6804"/>
                </a:lnTo>
                <a:lnTo>
                  <a:pt x="84790" y="8061"/>
                </a:lnTo>
                <a:lnTo>
                  <a:pt x="82708" y="10143"/>
                </a:lnTo>
                <a:lnTo>
                  <a:pt x="81451" y="10663"/>
                </a:lnTo>
                <a:close/>
              </a:path>
            </a:pathLst>
          </a:custGeom>
          <a:solidFill>
            <a:srgbClr val="DEDE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6630" y="2910087"/>
            <a:ext cx="42100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solidFill>
                  <a:srgbClr val="2B3249"/>
                </a:solidFill>
                <a:latin typeface="Tahoma"/>
                <a:cs typeface="Tahoma"/>
              </a:rPr>
              <a:t>Female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21297" y="4458706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5">
                <a:moveTo>
                  <a:pt x="28132" y="10663"/>
                </a:moveTo>
                <a:lnTo>
                  <a:pt x="3859" y="10663"/>
                </a:lnTo>
                <a:lnTo>
                  <a:pt x="2602" y="10143"/>
                </a:lnTo>
                <a:lnTo>
                  <a:pt x="520" y="8061"/>
                </a:lnTo>
                <a:lnTo>
                  <a:pt x="0" y="6804"/>
                </a:lnTo>
                <a:lnTo>
                  <a:pt x="0" y="3859"/>
                </a:lnTo>
                <a:lnTo>
                  <a:pt x="520" y="2602"/>
                </a:lnTo>
                <a:lnTo>
                  <a:pt x="2602" y="520"/>
                </a:lnTo>
                <a:lnTo>
                  <a:pt x="3859" y="0"/>
                </a:lnTo>
                <a:lnTo>
                  <a:pt x="28132" y="0"/>
                </a:lnTo>
                <a:lnTo>
                  <a:pt x="29388" y="520"/>
                </a:lnTo>
                <a:lnTo>
                  <a:pt x="31471" y="2602"/>
                </a:lnTo>
                <a:lnTo>
                  <a:pt x="31991" y="3859"/>
                </a:lnTo>
                <a:lnTo>
                  <a:pt x="31991" y="6804"/>
                </a:lnTo>
                <a:lnTo>
                  <a:pt x="31471" y="8061"/>
                </a:lnTo>
                <a:lnTo>
                  <a:pt x="29388" y="10143"/>
                </a:lnTo>
                <a:lnTo>
                  <a:pt x="28132" y="10663"/>
                </a:lnTo>
                <a:close/>
              </a:path>
              <a:path w="85725" h="10795">
                <a:moveTo>
                  <a:pt x="81451" y="10663"/>
                </a:moveTo>
                <a:lnTo>
                  <a:pt x="57178" y="10663"/>
                </a:lnTo>
                <a:lnTo>
                  <a:pt x="55922" y="10143"/>
                </a:lnTo>
                <a:lnTo>
                  <a:pt x="53839" y="8061"/>
                </a:lnTo>
                <a:lnTo>
                  <a:pt x="53319" y="6804"/>
                </a:lnTo>
                <a:lnTo>
                  <a:pt x="53319" y="3859"/>
                </a:lnTo>
                <a:lnTo>
                  <a:pt x="53839" y="2602"/>
                </a:lnTo>
                <a:lnTo>
                  <a:pt x="55922" y="520"/>
                </a:lnTo>
                <a:lnTo>
                  <a:pt x="57178" y="0"/>
                </a:lnTo>
                <a:lnTo>
                  <a:pt x="81451" y="0"/>
                </a:lnTo>
                <a:lnTo>
                  <a:pt x="82708" y="520"/>
                </a:lnTo>
                <a:lnTo>
                  <a:pt x="84790" y="2602"/>
                </a:lnTo>
                <a:lnTo>
                  <a:pt x="85310" y="3859"/>
                </a:lnTo>
                <a:lnTo>
                  <a:pt x="85310" y="6804"/>
                </a:lnTo>
                <a:lnTo>
                  <a:pt x="84790" y="8061"/>
                </a:lnTo>
                <a:lnTo>
                  <a:pt x="82708" y="10143"/>
                </a:lnTo>
                <a:lnTo>
                  <a:pt x="81451" y="10663"/>
                </a:lnTo>
                <a:close/>
              </a:path>
            </a:pathLst>
          </a:custGeom>
          <a:solidFill>
            <a:srgbClr val="DEDE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14920" y="4402494"/>
            <a:ext cx="29273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40" dirty="0">
                <a:solidFill>
                  <a:srgbClr val="2B3249"/>
                </a:solidFill>
                <a:latin typeface="Tahoma"/>
                <a:cs typeface="Tahoma"/>
              </a:rPr>
              <a:t>Male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7374" y="2011399"/>
            <a:ext cx="43180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solidFill>
                  <a:srgbClr val="2B3249"/>
                </a:solidFill>
                <a:latin typeface="Tahoma"/>
                <a:cs typeface="Tahoma"/>
              </a:rPr>
              <a:t>Gender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0591" y="2220096"/>
            <a:ext cx="4212223" cy="2995477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673870" y="2864629"/>
            <a:ext cx="287655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spc="-10" dirty="0">
                <a:solidFill>
                  <a:srgbClr val="FFFFFF"/>
                </a:solidFill>
                <a:latin typeface="Trebuchet MS"/>
                <a:cs typeface="Trebuchet MS"/>
              </a:rPr>
              <a:t>75.2k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9648" y="4357036"/>
            <a:ext cx="258445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spc="-20" dirty="0">
                <a:latin typeface="Trebuchet MS"/>
                <a:cs typeface="Trebuchet MS"/>
              </a:rPr>
              <a:t>158k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20928" y="2011362"/>
            <a:ext cx="4677410" cy="9410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65" dirty="0">
                <a:solidFill>
                  <a:srgbClr val="262D45"/>
                </a:solidFill>
                <a:latin typeface="Lucida Sans Unicode"/>
                <a:cs typeface="Lucida Sans Unicode"/>
              </a:rPr>
              <a:t>Key</a:t>
            </a:r>
            <a:r>
              <a:rPr sz="1650" spc="-110" dirty="0">
                <a:solidFill>
                  <a:srgbClr val="262D45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62D45"/>
                </a:solidFill>
                <a:latin typeface="Lucida Sans Unicode"/>
                <a:cs typeface="Lucida Sans Unicode"/>
              </a:rPr>
              <a:t>Finding</a:t>
            </a:r>
            <a:endParaRPr sz="1650">
              <a:latin typeface="Lucida Sans Unicode"/>
              <a:cs typeface="Lucida Sans Unicode"/>
            </a:endParaRPr>
          </a:p>
          <a:p>
            <a:pPr marL="12700" marR="5080">
              <a:lnSpc>
                <a:spcPct val="129600"/>
              </a:lnSpc>
              <a:spcBef>
                <a:spcPts val="990"/>
              </a:spcBef>
            </a:pPr>
            <a:r>
              <a:rPr sz="1350" spc="55" dirty="0">
                <a:solidFill>
                  <a:srgbClr val="2B3249"/>
                </a:solidFill>
                <a:latin typeface="Trebuchet MS"/>
                <a:cs typeface="Trebuchet MS"/>
              </a:rPr>
              <a:t>Male</a:t>
            </a:r>
            <a:r>
              <a:rPr sz="1350" spc="1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65" dirty="0">
                <a:solidFill>
                  <a:srgbClr val="2B3249"/>
                </a:solidFill>
                <a:latin typeface="Trebuchet MS"/>
                <a:cs typeface="Trebuchet MS"/>
              </a:rPr>
              <a:t>customers</a:t>
            </a:r>
            <a:r>
              <a:rPr sz="1350" spc="1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generate</a:t>
            </a:r>
            <a:r>
              <a:rPr sz="1350" spc="1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2B3249"/>
                </a:solidFill>
                <a:latin typeface="Trebuchet MS"/>
                <a:cs typeface="Trebuchet MS"/>
              </a:rPr>
              <a:t>2.1x</a:t>
            </a:r>
            <a:r>
              <a:rPr sz="1350" b="1" spc="1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2B3249"/>
                </a:solidFill>
                <a:latin typeface="Trebuchet MS"/>
                <a:cs typeface="Trebuchet MS"/>
              </a:rPr>
              <a:t>more</a:t>
            </a:r>
            <a:r>
              <a:rPr sz="1350" spc="1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revenue</a:t>
            </a:r>
            <a:r>
              <a:rPr sz="1350" spc="1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2B3249"/>
                </a:solidFill>
                <a:latin typeface="Trebuchet MS"/>
                <a:cs typeface="Trebuchet MS"/>
              </a:rPr>
              <a:t>than</a:t>
            </a:r>
            <a:r>
              <a:rPr sz="1350" spc="1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2B3249"/>
                </a:solidFill>
                <a:latin typeface="Trebuchet MS"/>
                <a:cs typeface="Trebuchet MS"/>
              </a:rPr>
              <a:t>female </a:t>
            </a:r>
            <a:r>
              <a:rPr sz="1350" spc="35" dirty="0">
                <a:solidFill>
                  <a:srgbClr val="2B3249"/>
                </a:solidFill>
                <a:latin typeface="Trebuchet MS"/>
                <a:cs typeface="Trebuchet MS"/>
              </a:rPr>
              <a:t>customers.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20928" y="3079114"/>
            <a:ext cx="467614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839</a:t>
            </a:r>
            <a:r>
              <a:rPr sz="1350" spc="1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high-</a:t>
            </a:r>
            <a:r>
              <a:rPr sz="1350" spc="55" dirty="0">
                <a:solidFill>
                  <a:srgbClr val="2B3249"/>
                </a:solidFill>
                <a:latin typeface="Trebuchet MS"/>
                <a:cs typeface="Trebuchet MS"/>
              </a:rPr>
              <a:t>spending</a:t>
            </a:r>
            <a:r>
              <a:rPr sz="1350" spc="2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60" dirty="0">
                <a:solidFill>
                  <a:srgbClr val="2B3249"/>
                </a:solidFill>
                <a:latin typeface="Trebuchet MS"/>
                <a:cs typeface="Trebuchet MS"/>
              </a:rPr>
              <a:t>discount</a:t>
            </a:r>
            <a:r>
              <a:rPr sz="1350" spc="2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60" dirty="0">
                <a:solidFill>
                  <a:srgbClr val="2B3249"/>
                </a:solidFill>
                <a:latin typeface="Trebuchet MS"/>
                <a:cs typeface="Trebuchet MS"/>
              </a:rPr>
              <a:t>users</a:t>
            </a:r>
            <a:r>
              <a:rPr sz="1350" spc="2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identified</a:t>
            </a:r>
            <a:r>
              <a:rPr sz="1350" spc="2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355" dirty="0">
                <a:solidFill>
                  <a:srgbClr val="2B3249"/>
                </a:solidFill>
                <a:latin typeface="Trebuchet MS"/>
                <a:cs typeface="Trebuchet MS"/>
              </a:rPr>
              <a:t>—</a:t>
            </a:r>
            <a:r>
              <a:rPr sz="1350" spc="2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45" dirty="0">
                <a:solidFill>
                  <a:srgbClr val="2B3249"/>
                </a:solidFill>
                <a:latin typeface="Trebuchet MS"/>
                <a:cs typeface="Trebuchet MS"/>
              </a:rPr>
              <a:t>customers </a:t>
            </a:r>
            <a:r>
              <a:rPr sz="1350" spc="85" dirty="0">
                <a:solidFill>
                  <a:srgbClr val="2B3249"/>
                </a:solidFill>
                <a:latin typeface="Trebuchet MS"/>
                <a:cs typeface="Trebuchet MS"/>
              </a:rPr>
              <a:t>who</a:t>
            </a:r>
            <a:r>
              <a:rPr sz="1350" spc="-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applied </a:t>
            </a:r>
            <a:r>
              <a:rPr sz="1350" spc="65" dirty="0">
                <a:solidFill>
                  <a:srgbClr val="2B3249"/>
                </a:solidFill>
                <a:latin typeface="Trebuchet MS"/>
                <a:cs typeface="Trebuchet MS"/>
              </a:rPr>
              <a:t>discounts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 yet </a:t>
            </a:r>
            <a:r>
              <a:rPr sz="1350" spc="55" dirty="0">
                <a:solidFill>
                  <a:srgbClr val="2B3249"/>
                </a:solidFill>
                <a:latin typeface="Trebuchet MS"/>
                <a:cs typeface="Trebuchet MS"/>
              </a:rPr>
              <a:t>spent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2B3249"/>
                </a:solidFill>
                <a:latin typeface="Trebuchet MS"/>
                <a:cs typeface="Trebuchet MS"/>
              </a:rPr>
              <a:t>above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 the</a:t>
            </a:r>
            <a:r>
              <a:rPr sz="1350" spc="-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2B3249"/>
                </a:solidFill>
                <a:latin typeface="Trebuchet MS"/>
                <a:cs typeface="Trebuchet MS"/>
              </a:rPr>
              <a:t>average </a:t>
            </a:r>
            <a:r>
              <a:rPr sz="1350" spc="50" dirty="0">
                <a:solidFill>
                  <a:srgbClr val="2B3249"/>
                </a:solidFill>
                <a:latin typeface="Trebuchet MS"/>
                <a:cs typeface="Trebuchet MS"/>
              </a:rPr>
              <a:t>purchase</a:t>
            </a:r>
            <a:r>
              <a:rPr sz="1350" spc="-4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2B3249"/>
                </a:solidFill>
                <a:latin typeface="Trebuchet MS"/>
                <a:cs typeface="Trebuchet MS"/>
              </a:rPr>
              <a:t>amount.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23" name="object 23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DAA7FBE-21F5-8B54-49C2-4E26604FCC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5516798"/>
            <a:ext cx="4800600" cy="922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0075" y="685799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1101356" y="0"/>
                </a:moveTo>
                <a:lnTo>
                  <a:pt x="41642" y="0"/>
                </a:lnTo>
                <a:lnTo>
                  <a:pt x="35515" y="1219"/>
                </a:lnTo>
                <a:lnTo>
                  <a:pt x="1220" y="35521"/>
                </a:lnTo>
                <a:lnTo>
                  <a:pt x="0" y="41643"/>
                </a:lnTo>
                <a:lnTo>
                  <a:pt x="0" y="275844"/>
                </a:lnTo>
                <a:lnTo>
                  <a:pt x="0" y="282206"/>
                </a:lnTo>
                <a:lnTo>
                  <a:pt x="23752" y="317754"/>
                </a:lnTo>
                <a:lnTo>
                  <a:pt x="41642" y="323850"/>
                </a:lnTo>
                <a:lnTo>
                  <a:pt x="1101356" y="323850"/>
                </a:lnTo>
                <a:lnTo>
                  <a:pt x="1136904" y="300101"/>
                </a:lnTo>
                <a:lnTo>
                  <a:pt x="1143000" y="282206"/>
                </a:lnTo>
                <a:lnTo>
                  <a:pt x="1143000" y="41643"/>
                </a:lnTo>
                <a:lnTo>
                  <a:pt x="1119251" y="6083"/>
                </a:lnTo>
                <a:lnTo>
                  <a:pt x="1107490" y="1219"/>
                </a:lnTo>
                <a:lnTo>
                  <a:pt x="1101356" y="0"/>
                </a:lnTo>
                <a:close/>
              </a:path>
            </a:pathLst>
          </a:custGeom>
          <a:solidFill>
            <a:srgbClr val="DFEC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90215" y="726440"/>
            <a:ext cx="96710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100" dirty="0">
                <a:solidFill>
                  <a:srgbClr val="2C3149"/>
                </a:solidFill>
                <a:latin typeface="Trebuchet MS"/>
                <a:cs typeface="Trebuchet MS"/>
              </a:rPr>
              <a:t>SQL</a:t>
            </a:r>
            <a:r>
              <a:rPr sz="1050" spc="-40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2C3149"/>
                </a:solidFill>
                <a:latin typeface="Trebuchet MS"/>
                <a:cs typeface="Trebuchet MS"/>
              </a:rPr>
              <a:t>INSIGHTS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05" dirty="0">
                <a:solidFill>
                  <a:srgbClr val="262D44"/>
                </a:solidFill>
              </a:rPr>
              <a:t>Top-</a:t>
            </a:r>
            <a:r>
              <a:rPr spc="-125" dirty="0">
                <a:solidFill>
                  <a:srgbClr val="262D44"/>
                </a:solidFill>
              </a:rPr>
              <a:t>Rated</a:t>
            </a:r>
            <a:r>
              <a:rPr spc="-254" dirty="0">
                <a:solidFill>
                  <a:srgbClr val="262D44"/>
                </a:solidFill>
              </a:rPr>
              <a:t> </a:t>
            </a:r>
            <a:r>
              <a:rPr spc="-125" dirty="0">
                <a:solidFill>
                  <a:srgbClr val="262D44"/>
                </a:solidFill>
              </a:rPr>
              <a:t>&amp;</a:t>
            </a:r>
            <a:r>
              <a:rPr spc="-254" dirty="0">
                <a:solidFill>
                  <a:srgbClr val="262D44"/>
                </a:solidFill>
              </a:rPr>
              <a:t> </a:t>
            </a:r>
            <a:r>
              <a:rPr spc="-195" dirty="0">
                <a:solidFill>
                  <a:srgbClr val="262D44"/>
                </a:solidFill>
              </a:rPr>
              <a:t>Discount-</a:t>
            </a:r>
            <a:r>
              <a:rPr spc="-170" dirty="0">
                <a:solidFill>
                  <a:srgbClr val="262D44"/>
                </a:solidFill>
              </a:rPr>
              <a:t>Dependent</a:t>
            </a:r>
            <a:r>
              <a:rPr spc="-250" dirty="0">
                <a:solidFill>
                  <a:srgbClr val="262D44"/>
                </a:solidFill>
              </a:rPr>
              <a:t> </a:t>
            </a:r>
            <a:r>
              <a:rPr spc="-80" dirty="0">
                <a:solidFill>
                  <a:srgbClr val="262D44"/>
                </a:solidFill>
              </a:rPr>
              <a:t>Products</a:t>
            </a:r>
          </a:p>
        </p:txBody>
      </p:sp>
      <p:sp>
        <p:nvSpPr>
          <p:cNvPr id="5" name="object 5"/>
          <p:cNvSpPr/>
          <p:nvPr/>
        </p:nvSpPr>
        <p:spPr>
          <a:xfrm>
            <a:off x="604837" y="2509837"/>
            <a:ext cx="4895850" cy="3048000"/>
          </a:xfrm>
          <a:custGeom>
            <a:avLst/>
            <a:gdLst/>
            <a:ahLst/>
            <a:cxnLst/>
            <a:rect l="l" t="t" r="r" b="b"/>
            <a:pathLst>
              <a:path w="4895850" h="3048000">
                <a:moveTo>
                  <a:pt x="0" y="2992756"/>
                </a:moveTo>
                <a:lnTo>
                  <a:pt x="0" y="55245"/>
                </a:lnTo>
                <a:lnTo>
                  <a:pt x="0" y="51612"/>
                </a:lnTo>
                <a:lnTo>
                  <a:pt x="351" y="48018"/>
                </a:lnTo>
                <a:lnTo>
                  <a:pt x="1061" y="44462"/>
                </a:lnTo>
                <a:lnTo>
                  <a:pt x="1771" y="40906"/>
                </a:lnTo>
                <a:lnTo>
                  <a:pt x="2818" y="37452"/>
                </a:lnTo>
                <a:lnTo>
                  <a:pt x="4207" y="34099"/>
                </a:lnTo>
                <a:lnTo>
                  <a:pt x="5590" y="30746"/>
                </a:lnTo>
                <a:lnTo>
                  <a:pt x="24551" y="9309"/>
                </a:lnTo>
                <a:lnTo>
                  <a:pt x="27567" y="7289"/>
                </a:lnTo>
                <a:lnTo>
                  <a:pt x="44465" y="1066"/>
                </a:lnTo>
                <a:lnTo>
                  <a:pt x="48026" y="355"/>
                </a:lnTo>
                <a:lnTo>
                  <a:pt x="51619" y="0"/>
                </a:lnTo>
                <a:lnTo>
                  <a:pt x="55245" y="0"/>
                </a:lnTo>
                <a:lnTo>
                  <a:pt x="4840605" y="0"/>
                </a:lnTo>
                <a:lnTo>
                  <a:pt x="4844237" y="0"/>
                </a:lnTo>
                <a:lnTo>
                  <a:pt x="4847818" y="355"/>
                </a:lnTo>
                <a:lnTo>
                  <a:pt x="4851374" y="1066"/>
                </a:lnTo>
                <a:lnTo>
                  <a:pt x="4854943" y="1765"/>
                </a:lnTo>
                <a:lnTo>
                  <a:pt x="4858397" y="2819"/>
                </a:lnTo>
                <a:lnTo>
                  <a:pt x="4861737" y="4203"/>
                </a:lnTo>
                <a:lnTo>
                  <a:pt x="4865103" y="5588"/>
                </a:lnTo>
                <a:lnTo>
                  <a:pt x="4891646" y="34099"/>
                </a:lnTo>
                <a:lnTo>
                  <a:pt x="4894783" y="44462"/>
                </a:lnTo>
                <a:lnTo>
                  <a:pt x="4895494" y="48018"/>
                </a:lnTo>
                <a:lnTo>
                  <a:pt x="4895850" y="51612"/>
                </a:lnTo>
                <a:lnTo>
                  <a:pt x="4895850" y="55245"/>
                </a:lnTo>
                <a:lnTo>
                  <a:pt x="4895850" y="2992756"/>
                </a:lnTo>
                <a:lnTo>
                  <a:pt x="4895850" y="2996382"/>
                </a:lnTo>
                <a:lnTo>
                  <a:pt x="4895494" y="2999973"/>
                </a:lnTo>
                <a:lnTo>
                  <a:pt x="4894783" y="3003530"/>
                </a:lnTo>
                <a:lnTo>
                  <a:pt x="4894084" y="3007088"/>
                </a:lnTo>
                <a:lnTo>
                  <a:pt x="4871300" y="3038689"/>
                </a:lnTo>
                <a:lnTo>
                  <a:pt x="4861737" y="3043793"/>
                </a:lnTo>
                <a:lnTo>
                  <a:pt x="4858397" y="3045183"/>
                </a:lnTo>
                <a:lnTo>
                  <a:pt x="4840605" y="3048001"/>
                </a:lnTo>
                <a:lnTo>
                  <a:pt x="55245" y="3048001"/>
                </a:lnTo>
                <a:lnTo>
                  <a:pt x="18747" y="3034383"/>
                </a:lnTo>
                <a:lnTo>
                  <a:pt x="9311" y="3023444"/>
                </a:lnTo>
                <a:lnTo>
                  <a:pt x="7292" y="3020428"/>
                </a:lnTo>
                <a:lnTo>
                  <a:pt x="5590" y="3017248"/>
                </a:lnTo>
                <a:lnTo>
                  <a:pt x="4207" y="3013894"/>
                </a:lnTo>
                <a:lnTo>
                  <a:pt x="2818" y="3010541"/>
                </a:lnTo>
                <a:lnTo>
                  <a:pt x="1771" y="3007088"/>
                </a:lnTo>
                <a:lnTo>
                  <a:pt x="1061" y="3003530"/>
                </a:lnTo>
                <a:lnTo>
                  <a:pt x="351" y="2999973"/>
                </a:lnTo>
                <a:lnTo>
                  <a:pt x="0" y="2996382"/>
                </a:lnTo>
                <a:lnTo>
                  <a:pt x="0" y="299275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38837" y="2509837"/>
            <a:ext cx="4895850" cy="3048000"/>
          </a:xfrm>
          <a:custGeom>
            <a:avLst/>
            <a:gdLst/>
            <a:ahLst/>
            <a:cxnLst/>
            <a:rect l="l" t="t" r="r" b="b"/>
            <a:pathLst>
              <a:path w="4895850" h="3048000">
                <a:moveTo>
                  <a:pt x="0" y="2992756"/>
                </a:moveTo>
                <a:lnTo>
                  <a:pt x="0" y="55245"/>
                </a:lnTo>
                <a:lnTo>
                  <a:pt x="0" y="51612"/>
                </a:lnTo>
                <a:lnTo>
                  <a:pt x="355" y="48018"/>
                </a:lnTo>
                <a:lnTo>
                  <a:pt x="1066" y="44462"/>
                </a:lnTo>
                <a:lnTo>
                  <a:pt x="1765" y="40906"/>
                </a:lnTo>
                <a:lnTo>
                  <a:pt x="2819" y="37452"/>
                </a:lnTo>
                <a:lnTo>
                  <a:pt x="4203" y="34099"/>
                </a:lnTo>
                <a:lnTo>
                  <a:pt x="5588" y="30746"/>
                </a:lnTo>
                <a:lnTo>
                  <a:pt x="7289" y="27571"/>
                </a:lnTo>
                <a:lnTo>
                  <a:pt x="34099" y="4203"/>
                </a:lnTo>
                <a:lnTo>
                  <a:pt x="37452" y="2819"/>
                </a:lnTo>
                <a:lnTo>
                  <a:pt x="40906" y="1765"/>
                </a:lnTo>
                <a:lnTo>
                  <a:pt x="44462" y="1066"/>
                </a:lnTo>
                <a:lnTo>
                  <a:pt x="48018" y="355"/>
                </a:lnTo>
                <a:lnTo>
                  <a:pt x="51612" y="0"/>
                </a:lnTo>
                <a:lnTo>
                  <a:pt x="55245" y="0"/>
                </a:lnTo>
                <a:lnTo>
                  <a:pt x="4840605" y="0"/>
                </a:lnTo>
                <a:lnTo>
                  <a:pt x="4844237" y="0"/>
                </a:lnTo>
                <a:lnTo>
                  <a:pt x="4847818" y="355"/>
                </a:lnTo>
                <a:lnTo>
                  <a:pt x="4851374" y="1066"/>
                </a:lnTo>
                <a:lnTo>
                  <a:pt x="4854943" y="1765"/>
                </a:lnTo>
                <a:lnTo>
                  <a:pt x="4858397" y="2819"/>
                </a:lnTo>
                <a:lnTo>
                  <a:pt x="4861737" y="4203"/>
                </a:lnTo>
                <a:lnTo>
                  <a:pt x="4865103" y="5588"/>
                </a:lnTo>
                <a:lnTo>
                  <a:pt x="4868278" y="7289"/>
                </a:lnTo>
                <a:lnTo>
                  <a:pt x="4871288" y="9309"/>
                </a:lnTo>
                <a:lnTo>
                  <a:pt x="4874310" y="11328"/>
                </a:lnTo>
                <a:lnTo>
                  <a:pt x="4877104" y="13614"/>
                </a:lnTo>
                <a:lnTo>
                  <a:pt x="4879670" y="16179"/>
                </a:lnTo>
                <a:lnTo>
                  <a:pt x="4882235" y="18745"/>
                </a:lnTo>
                <a:lnTo>
                  <a:pt x="4894783" y="44462"/>
                </a:lnTo>
                <a:lnTo>
                  <a:pt x="4895494" y="48018"/>
                </a:lnTo>
                <a:lnTo>
                  <a:pt x="4895850" y="51612"/>
                </a:lnTo>
                <a:lnTo>
                  <a:pt x="4895850" y="55245"/>
                </a:lnTo>
                <a:lnTo>
                  <a:pt x="4895850" y="2992756"/>
                </a:lnTo>
                <a:lnTo>
                  <a:pt x="4895850" y="2996382"/>
                </a:lnTo>
                <a:lnTo>
                  <a:pt x="4895494" y="2999973"/>
                </a:lnTo>
                <a:lnTo>
                  <a:pt x="4894783" y="3003530"/>
                </a:lnTo>
                <a:lnTo>
                  <a:pt x="4894084" y="3007088"/>
                </a:lnTo>
                <a:lnTo>
                  <a:pt x="4871300" y="3038689"/>
                </a:lnTo>
                <a:lnTo>
                  <a:pt x="4861737" y="3043793"/>
                </a:lnTo>
                <a:lnTo>
                  <a:pt x="4858397" y="3045183"/>
                </a:lnTo>
                <a:lnTo>
                  <a:pt x="4840605" y="3048001"/>
                </a:lnTo>
                <a:lnTo>
                  <a:pt x="55245" y="3048001"/>
                </a:lnTo>
                <a:lnTo>
                  <a:pt x="34099" y="3043793"/>
                </a:lnTo>
                <a:lnTo>
                  <a:pt x="30746" y="3042405"/>
                </a:lnTo>
                <a:lnTo>
                  <a:pt x="4203" y="3013894"/>
                </a:lnTo>
                <a:lnTo>
                  <a:pt x="2819" y="3010541"/>
                </a:lnTo>
                <a:lnTo>
                  <a:pt x="1765" y="3007088"/>
                </a:lnTo>
                <a:lnTo>
                  <a:pt x="1066" y="3003530"/>
                </a:lnTo>
                <a:lnTo>
                  <a:pt x="355" y="2999973"/>
                </a:lnTo>
                <a:lnTo>
                  <a:pt x="0" y="2996382"/>
                </a:lnTo>
                <a:lnTo>
                  <a:pt x="0" y="299275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00075" y="2012156"/>
          <a:ext cx="10231755" cy="336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1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2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4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50" spc="-135" dirty="0">
                          <a:solidFill>
                            <a:srgbClr val="262D44"/>
                          </a:solidFill>
                          <a:latin typeface="Lucida Sans Unicode"/>
                          <a:cs typeface="Lucida Sans Unicode"/>
                        </a:rPr>
                        <a:t>Top</a:t>
                      </a:r>
                      <a:r>
                        <a:rPr sz="1650" spc="-125" dirty="0">
                          <a:solidFill>
                            <a:srgbClr val="262D44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650" spc="-185" dirty="0">
                          <a:solidFill>
                            <a:srgbClr val="262D44"/>
                          </a:solidFill>
                          <a:latin typeface="Lucida Sans Unicode"/>
                          <a:cs typeface="Lucida Sans Unicode"/>
                        </a:rPr>
                        <a:t>5</a:t>
                      </a:r>
                      <a:r>
                        <a:rPr sz="1650" spc="-120" dirty="0">
                          <a:solidFill>
                            <a:srgbClr val="262D44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650" spc="-30" dirty="0">
                          <a:solidFill>
                            <a:srgbClr val="262D44"/>
                          </a:solidFill>
                          <a:latin typeface="Lucida Sans Unicode"/>
                          <a:cs typeface="Lucida Sans Unicode"/>
                        </a:rPr>
                        <a:t>by</a:t>
                      </a:r>
                      <a:r>
                        <a:rPr sz="1650" spc="-120" dirty="0">
                          <a:solidFill>
                            <a:srgbClr val="262D44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650" spc="-10" dirty="0">
                          <a:solidFill>
                            <a:srgbClr val="262D44"/>
                          </a:solidFill>
                          <a:latin typeface="Lucida Sans Unicode"/>
                          <a:cs typeface="Lucida Sans Unicode"/>
                        </a:rPr>
                        <a:t>Rating</a:t>
                      </a:r>
                      <a:endParaRPr sz="1650">
                        <a:latin typeface="Lucida Sans Unicode"/>
                        <a:cs typeface="Lucida Sans Unicode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50" spc="-85" dirty="0">
                          <a:solidFill>
                            <a:srgbClr val="262D44"/>
                          </a:solidFill>
                          <a:latin typeface="Lucida Sans Unicode"/>
                          <a:cs typeface="Lucida Sans Unicode"/>
                        </a:rPr>
                        <a:t>Highest</a:t>
                      </a:r>
                      <a:r>
                        <a:rPr sz="1650" spc="-80" dirty="0">
                          <a:solidFill>
                            <a:srgbClr val="262D44"/>
                          </a:solidFill>
                          <a:latin typeface="Lucida Sans Unicode"/>
                          <a:cs typeface="Lucida Sans Unicode"/>
                        </a:rPr>
                        <a:t> Discount </a:t>
                      </a:r>
                      <a:r>
                        <a:rPr sz="1650" spc="-20" dirty="0">
                          <a:solidFill>
                            <a:srgbClr val="262D44"/>
                          </a:solidFill>
                          <a:latin typeface="Lucida Sans Unicode"/>
                          <a:cs typeface="Lucida Sans Unicode"/>
                        </a:rPr>
                        <a:t>Rates</a:t>
                      </a:r>
                      <a:endParaRPr sz="1650">
                        <a:latin typeface="Lucida Sans Unicode"/>
                        <a:cs typeface="Lucida Sans Unicode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685"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50" spc="50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Product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928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50" spc="45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Rating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50" spc="50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Product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50" spc="75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Discount</a:t>
                      </a:r>
                      <a:r>
                        <a:rPr sz="1350" spc="-55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spc="315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%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spc="-10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Gloves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928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spc="-20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3.86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spc="45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Hat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spc="45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50.00%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spc="50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Sandals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928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spc="-20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3.84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spc="45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Sneakers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spc="45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49.66%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spc="75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Boots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928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spc="-20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3.82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spc="45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Coat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350" spc="45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49.07%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0922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spc="45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Hat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928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spc="-20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3.80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spc="-10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Sweater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50" spc="45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48.17%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marL="180975">
                        <a:lnSpc>
                          <a:spcPts val="1580"/>
                        </a:lnSpc>
                        <a:spcBef>
                          <a:spcPts val="935"/>
                        </a:spcBef>
                      </a:pPr>
                      <a:r>
                        <a:rPr sz="1350" spc="45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Skirt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89280">
                        <a:lnSpc>
                          <a:spcPts val="1580"/>
                        </a:lnSpc>
                        <a:spcBef>
                          <a:spcPts val="935"/>
                        </a:spcBef>
                      </a:pPr>
                      <a:r>
                        <a:rPr sz="1350" spc="-20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3.78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ts val="1580"/>
                        </a:lnSpc>
                        <a:spcBef>
                          <a:spcPts val="935"/>
                        </a:spcBef>
                      </a:pPr>
                      <a:r>
                        <a:rPr sz="1350" spc="55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Pants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ts val="1580"/>
                        </a:lnSpc>
                        <a:spcBef>
                          <a:spcPts val="935"/>
                        </a:spcBef>
                      </a:pPr>
                      <a:r>
                        <a:rPr sz="1350" spc="45" dirty="0">
                          <a:solidFill>
                            <a:srgbClr val="2C3149"/>
                          </a:solidFill>
                          <a:latin typeface="Trebuchet MS"/>
                          <a:cs typeface="Trebuchet MS"/>
                        </a:rPr>
                        <a:t>47.37%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187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8" name="object 8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7A99A7-A522-6F28-766B-F54A428D8A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5575344"/>
            <a:ext cx="4495800" cy="8635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50939" y="825738"/>
            <a:ext cx="1001394" cy="233679"/>
          </a:xfrm>
          <a:custGeom>
            <a:avLst/>
            <a:gdLst/>
            <a:ahLst/>
            <a:cxnLst/>
            <a:rect l="l" t="t" r="r" b="b"/>
            <a:pathLst>
              <a:path w="1001394" h="233680">
                <a:moveTo>
                  <a:pt x="964428" y="0"/>
                </a:moveTo>
                <a:lnTo>
                  <a:pt x="36464" y="0"/>
                </a:lnTo>
                <a:lnTo>
                  <a:pt x="31100" y="1067"/>
                </a:lnTo>
                <a:lnTo>
                  <a:pt x="1068" y="31105"/>
                </a:lnTo>
                <a:lnTo>
                  <a:pt x="0" y="36465"/>
                </a:lnTo>
                <a:lnTo>
                  <a:pt x="0" y="191504"/>
                </a:lnTo>
                <a:lnTo>
                  <a:pt x="0" y="197076"/>
                </a:lnTo>
                <a:lnTo>
                  <a:pt x="31100" y="232474"/>
                </a:lnTo>
                <a:lnTo>
                  <a:pt x="36464" y="233542"/>
                </a:lnTo>
                <a:lnTo>
                  <a:pt x="964428" y="233542"/>
                </a:lnTo>
                <a:lnTo>
                  <a:pt x="999827" y="202436"/>
                </a:lnTo>
                <a:lnTo>
                  <a:pt x="1000894" y="197076"/>
                </a:lnTo>
                <a:lnTo>
                  <a:pt x="1000894" y="36465"/>
                </a:lnTo>
                <a:lnTo>
                  <a:pt x="969800" y="1067"/>
                </a:lnTo>
                <a:lnTo>
                  <a:pt x="964428" y="0"/>
                </a:lnTo>
                <a:close/>
              </a:path>
            </a:pathLst>
          </a:custGeom>
          <a:solidFill>
            <a:srgbClr val="DFEC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8297" y="843064"/>
            <a:ext cx="850265" cy="169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75" dirty="0">
                <a:solidFill>
                  <a:srgbClr val="2C3149"/>
                </a:solidFill>
                <a:latin typeface="Trebuchet MS"/>
                <a:cs typeface="Trebuchet MS"/>
              </a:rPr>
              <a:t>SQL</a:t>
            </a:r>
            <a:r>
              <a:rPr sz="950" spc="-50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950" spc="50" dirty="0">
                <a:solidFill>
                  <a:srgbClr val="2C3149"/>
                </a:solidFill>
                <a:latin typeface="Trebuchet MS"/>
                <a:cs typeface="Trebuchet MS"/>
              </a:rPr>
              <a:t>INSIGHTS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3550">
              <a:lnSpc>
                <a:spcPct val="100000"/>
              </a:lnSpc>
              <a:spcBef>
                <a:spcPts val="105"/>
              </a:spcBef>
            </a:pPr>
            <a:r>
              <a:rPr sz="2950" spc="-175" dirty="0">
                <a:solidFill>
                  <a:srgbClr val="262D44"/>
                </a:solidFill>
              </a:rPr>
              <a:t>Customer</a:t>
            </a:r>
            <a:r>
              <a:rPr sz="2950" spc="-195" dirty="0">
                <a:solidFill>
                  <a:srgbClr val="262D44"/>
                </a:solidFill>
              </a:rPr>
              <a:t> </a:t>
            </a:r>
            <a:r>
              <a:rPr sz="2950" spc="-105" dirty="0">
                <a:solidFill>
                  <a:srgbClr val="262D44"/>
                </a:solidFill>
              </a:rPr>
              <a:t>Segmentation</a:t>
            </a:r>
            <a:endParaRPr sz="295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939" y="1759906"/>
            <a:ext cx="3770036" cy="377003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204652" y="3227885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20" h="58420">
                <a:moveTo>
                  <a:pt x="33062" y="0"/>
                </a:moveTo>
                <a:lnTo>
                  <a:pt x="25322" y="0"/>
                </a:lnTo>
                <a:lnTo>
                  <a:pt x="21597" y="733"/>
                </a:lnTo>
                <a:lnTo>
                  <a:pt x="0" y="25322"/>
                </a:lnTo>
                <a:lnTo>
                  <a:pt x="0" y="33062"/>
                </a:lnTo>
                <a:lnTo>
                  <a:pt x="25322" y="58385"/>
                </a:lnTo>
                <a:lnTo>
                  <a:pt x="33062" y="58385"/>
                </a:lnTo>
                <a:lnTo>
                  <a:pt x="58385" y="33062"/>
                </a:lnTo>
                <a:lnTo>
                  <a:pt x="58385" y="29192"/>
                </a:lnTo>
                <a:lnTo>
                  <a:pt x="58385" y="25322"/>
                </a:lnTo>
                <a:lnTo>
                  <a:pt x="36788" y="733"/>
                </a:lnTo>
                <a:lnTo>
                  <a:pt x="33062" y="0"/>
                </a:lnTo>
                <a:close/>
              </a:path>
            </a:pathLst>
          </a:custGeom>
          <a:solidFill>
            <a:srgbClr val="2C31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04652" y="3436405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20" h="58420">
                <a:moveTo>
                  <a:pt x="33062" y="0"/>
                </a:moveTo>
                <a:lnTo>
                  <a:pt x="25322" y="0"/>
                </a:lnTo>
                <a:lnTo>
                  <a:pt x="21597" y="733"/>
                </a:lnTo>
                <a:lnTo>
                  <a:pt x="0" y="25322"/>
                </a:lnTo>
                <a:lnTo>
                  <a:pt x="0" y="33062"/>
                </a:lnTo>
                <a:lnTo>
                  <a:pt x="25322" y="58385"/>
                </a:lnTo>
                <a:lnTo>
                  <a:pt x="33062" y="58385"/>
                </a:lnTo>
                <a:lnTo>
                  <a:pt x="58385" y="33062"/>
                </a:lnTo>
                <a:lnTo>
                  <a:pt x="58385" y="29192"/>
                </a:lnTo>
                <a:lnTo>
                  <a:pt x="58385" y="25322"/>
                </a:lnTo>
                <a:lnTo>
                  <a:pt x="36788" y="733"/>
                </a:lnTo>
                <a:lnTo>
                  <a:pt x="33062" y="0"/>
                </a:lnTo>
                <a:close/>
              </a:path>
            </a:pathLst>
          </a:custGeom>
          <a:solidFill>
            <a:srgbClr val="2C31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04652" y="3636584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20" h="58420">
                <a:moveTo>
                  <a:pt x="33062" y="0"/>
                </a:moveTo>
                <a:lnTo>
                  <a:pt x="25322" y="0"/>
                </a:lnTo>
                <a:lnTo>
                  <a:pt x="21597" y="733"/>
                </a:lnTo>
                <a:lnTo>
                  <a:pt x="0" y="25322"/>
                </a:lnTo>
                <a:lnTo>
                  <a:pt x="0" y="33062"/>
                </a:lnTo>
                <a:lnTo>
                  <a:pt x="25322" y="58385"/>
                </a:lnTo>
                <a:lnTo>
                  <a:pt x="33062" y="58385"/>
                </a:lnTo>
                <a:lnTo>
                  <a:pt x="58385" y="33062"/>
                </a:lnTo>
                <a:lnTo>
                  <a:pt x="58385" y="29192"/>
                </a:lnTo>
                <a:lnTo>
                  <a:pt x="58385" y="25322"/>
                </a:lnTo>
                <a:lnTo>
                  <a:pt x="36788" y="733"/>
                </a:lnTo>
                <a:lnTo>
                  <a:pt x="33062" y="0"/>
                </a:lnTo>
                <a:close/>
              </a:path>
            </a:pathLst>
          </a:custGeom>
          <a:solidFill>
            <a:srgbClr val="2C31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96311" y="3911830"/>
            <a:ext cx="3770629" cy="17145"/>
          </a:xfrm>
          <a:custGeom>
            <a:avLst/>
            <a:gdLst/>
            <a:ahLst/>
            <a:cxnLst/>
            <a:rect l="l" t="t" r="r" b="b"/>
            <a:pathLst>
              <a:path w="3770629" h="17145">
                <a:moveTo>
                  <a:pt x="3763998" y="0"/>
                </a:moveTo>
                <a:lnTo>
                  <a:pt x="6038" y="0"/>
                </a:lnTo>
                <a:lnTo>
                  <a:pt x="4070" y="811"/>
                </a:lnTo>
                <a:lnTo>
                  <a:pt x="811" y="4070"/>
                </a:lnTo>
                <a:lnTo>
                  <a:pt x="0" y="6038"/>
                </a:lnTo>
                <a:lnTo>
                  <a:pt x="0" y="8340"/>
                </a:lnTo>
                <a:lnTo>
                  <a:pt x="0" y="10642"/>
                </a:lnTo>
                <a:lnTo>
                  <a:pt x="811" y="12611"/>
                </a:lnTo>
                <a:lnTo>
                  <a:pt x="4070" y="15869"/>
                </a:lnTo>
                <a:lnTo>
                  <a:pt x="6038" y="16681"/>
                </a:lnTo>
                <a:lnTo>
                  <a:pt x="3763998" y="16681"/>
                </a:lnTo>
                <a:lnTo>
                  <a:pt x="3765966" y="15869"/>
                </a:lnTo>
                <a:lnTo>
                  <a:pt x="3769225" y="12611"/>
                </a:lnTo>
                <a:lnTo>
                  <a:pt x="3770036" y="10642"/>
                </a:lnTo>
                <a:lnTo>
                  <a:pt x="3770036" y="6038"/>
                </a:lnTo>
                <a:lnTo>
                  <a:pt x="3769225" y="4070"/>
                </a:lnTo>
                <a:lnTo>
                  <a:pt x="3765966" y="811"/>
                </a:lnTo>
                <a:lnTo>
                  <a:pt x="3763998" y="0"/>
                </a:lnTo>
                <a:close/>
              </a:path>
            </a:pathLst>
          </a:custGeom>
          <a:solidFill>
            <a:srgbClr val="2C314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183222" y="2790847"/>
            <a:ext cx="3175635" cy="160591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50" spc="-55" dirty="0">
                <a:solidFill>
                  <a:srgbClr val="262D44"/>
                </a:solidFill>
                <a:latin typeface="Lucida Sans Unicode"/>
                <a:cs typeface="Lucida Sans Unicode"/>
              </a:rPr>
              <a:t>Segment</a:t>
            </a:r>
            <a:r>
              <a:rPr sz="1450" spc="-85" dirty="0">
                <a:solidFill>
                  <a:srgbClr val="262D44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262D44"/>
                </a:solidFill>
                <a:latin typeface="Lucida Sans Unicode"/>
                <a:cs typeface="Lucida Sans Unicode"/>
              </a:rPr>
              <a:t>Breakdown</a:t>
            </a:r>
            <a:endParaRPr sz="1450">
              <a:latin typeface="Lucida Sans Unicode"/>
              <a:cs typeface="Lucida Sans Unicode"/>
            </a:endParaRPr>
          </a:p>
          <a:p>
            <a:pPr marL="252729">
              <a:lnSpc>
                <a:spcPct val="100000"/>
              </a:lnSpc>
              <a:spcBef>
                <a:spcPts val="530"/>
              </a:spcBef>
            </a:pPr>
            <a:r>
              <a:rPr sz="1150" b="1" dirty="0">
                <a:solidFill>
                  <a:srgbClr val="2C3149"/>
                </a:solidFill>
                <a:latin typeface="Trebuchet MS"/>
                <a:cs typeface="Trebuchet MS"/>
              </a:rPr>
              <a:t>Loyal:</a:t>
            </a:r>
            <a:r>
              <a:rPr sz="1150" b="1" spc="114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2C3149"/>
                </a:solidFill>
                <a:latin typeface="Trebuchet MS"/>
                <a:cs typeface="Trebuchet MS"/>
              </a:rPr>
              <a:t>3,116</a:t>
            </a:r>
            <a:r>
              <a:rPr sz="1150" spc="120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150" spc="65" dirty="0">
                <a:solidFill>
                  <a:srgbClr val="2C3149"/>
                </a:solidFill>
                <a:latin typeface="Trebuchet MS"/>
                <a:cs typeface="Trebuchet MS"/>
              </a:rPr>
              <a:t>customers</a:t>
            </a:r>
            <a:endParaRPr sz="1150">
              <a:latin typeface="Trebuchet MS"/>
              <a:cs typeface="Trebuchet MS"/>
            </a:endParaRPr>
          </a:p>
          <a:p>
            <a:pPr marL="252729">
              <a:lnSpc>
                <a:spcPct val="100000"/>
              </a:lnSpc>
              <a:spcBef>
                <a:spcPts val="265"/>
              </a:spcBef>
            </a:pPr>
            <a:r>
              <a:rPr sz="1150" b="1" spc="60" dirty="0">
                <a:solidFill>
                  <a:srgbClr val="2C3149"/>
                </a:solidFill>
                <a:latin typeface="Trebuchet MS"/>
                <a:cs typeface="Trebuchet MS"/>
              </a:rPr>
              <a:t>Returning:</a:t>
            </a:r>
            <a:r>
              <a:rPr sz="1150" b="1" spc="15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2C3149"/>
                </a:solidFill>
                <a:latin typeface="Trebuchet MS"/>
                <a:cs typeface="Trebuchet MS"/>
              </a:rPr>
              <a:t>701</a:t>
            </a:r>
            <a:r>
              <a:rPr sz="1150" spc="20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150" spc="65" dirty="0">
                <a:solidFill>
                  <a:srgbClr val="2C3149"/>
                </a:solidFill>
                <a:latin typeface="Trebuchet MS"/>
                <a:cs typeface="Trebuchet MS"/>
              </a:rPr>
              <a:t>customers</a:t>
            </a:r>
            <a:endParaRPr sz="1150">
              <a:latin typeface="Trebuchet MS"/>
              <a:cs typeface="Trebuchet MS"/>
            </a:endParaRPr>
          </a:p>
          <a:p>
            <a:pPr marL="252729">
              <a:lnSpc>
                <a:spcPct val="100000"/>
              </a:lnSpc>
              <a:spcBef>
                <a:spcPts val="195"/>
              </a:spcBef>
            </a:pPr>
            <a:r>
              <a:rPr sz="1150" b="1" spc="60" dirty="0">
                <a:solidFill>
                  <a:srgbClr val="2C3149"/>
                </a:solidFill>
                <a:latin typeface="Trebuchet MS"/>
                <a:cs typeface="Trebuchet MS"/>
              </a:rPr>
              <a:t>New:</a:t>
            </a:r>
            <a:r>
              <a:rPr sz="1150" b="1" spc="-5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2C3149"/>
                </a:solidFill>
                <a:latin typeface="Trebuchet MS"/>
                <a:cs typeface="Trebuchet MS"/>
              </a:rPr>
              <a:t>83</a:t>
            </a:r>
            <a:r>
              <a:rPr sz="1150" spc="-5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150" spc="65" dirty="0">
                <a:solidFill>
                  <a:srgbClr val="2C3149"/>
                </a:solidFill>
                <a:latin typeface="Trebuchet MS"/>
                <a:cs typeface="Trebuchet MS"/>
              </a:rPr>
              <a:t>customers</a:t>
            </a:r>
            <a:endParaRPr sz="1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150">
              <a:latin typeface="Trebuchet MS"/>
              <a:cs typeface="Trebuchet MS"/>
            </a:endParaRPr>
          </a:p>
          <a:p>
            <a:pPr marL="12700" marR="5080">
              <a:lnSpc>
                <a:spcPct val="104700"/>
              </a:lnSpc>
            </a:pPr>
            <a:r>
              <a:rPr sz="1150" spc="60" dirty="0">
                <a:solidFill>
                  <a:srgbClr val="2C3149"/>
                </a:solidFill>
                <a:latin typeface="Trebuchet MS"/>
                <a:cs typeface="Trebuchet MS"/>
              </a:rPr>
              <a:t>Repeat</a:t>
            </a:r>
            <a:r>
              <a:rPr sz="1150" spc="-15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150" spc="65" dirty="0">
                <a:solidFill>
                  <a:srgbClr val="2C3149"/>
                </a:solidFill>
                <a:latin typeface="Trebuchet MS"/>
                <a:cs typeface="Trebuchet MS"/>
              </a:rPr>
              <a:t>buyers</a:t>
            </a:r>
            <a:r>
              <a:rPr sz="1150" spc="-15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150" spc="65" dirty="0">
                <a:solidFill>
                  <a:srgbClr val="2C3149"/>
                </a:solidFill>
                <a:latin typeface="Trebuchet MS"/>
                <a:cs typeface="Trebuchet MS"/>
              </a:rPr>
              <a:t>with</a:t>
            </a:r>
            <a:r>
              <a:rPr sz="1150" spc="-15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2C3149"/>
                </a:solidFill>
                <a:latin typeface="Trebuchet MS"/>
                <a:cs typeface="Trebuchet MS"/>
              </a:rPr>
              <a:t>&gt;5</a:t>
            </a:r>
            <a:r>
              <a:rPr sz="1150" spc="-15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150" spc="50" dirty="0">
                <a:solidFill>
                  <a:srgbClr val="2C3149"/>
                </a:solidFill>
                <a:latin typeface="Trebuchet MS"/>
                <a:cs typeface="Trebuchet MS"/>
              </a:rPr>
              <a:t>purchases:</a:t>
            </a:r>
            <a:r>
              <a:rPr sz="1150" spc="-15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2C3149"/>
                </a:solidFill>
                <a:latin typeface="Trebuchet MS"/>
                <a:cs typeface="Trebuchet MS"/>
              </a:rPr>
              <a:t>2,518</a:t>
            </a:r>
            <a:r>
              <a:rPr sz="1150" spc="-15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2C3149"/>
                </a:solidFill>
                <a:latin typeface="Trebuchet MS"/>
                <a:cs typeface="Trebuchet MS"/>
              </a:rPr>
              <a:t>non-</a:t>
            </a:r>
            <a:r>
              <a:rPr sz="1150" spc="60" dirty="0">
                <a:solidFill>
                  <a:srgbClr val="2C3149"/>
                </a:solidFill>
                <a:latin typeface="Trebuchet MS"/>
                <a:cs typeface="Trebuchet MS"/>
              </a:rPr>
              <a:t>subscribers</a:t>
            </a:r>
            <a:r>
              <a:rPr sz="1150" spc="25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2C3149"/>
                </a:solidFill>
                <a:latin typeface="Trebuchet MS"/>
                <a:cs typeface="Trebuchet MS"/>
              </a:rPr>
              <a:t>vs.</a:t>
            </a:r>
            <a:r>
              <a:rPr sz="1150" spc="25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2C3149"/>
                </a:solidFill>
                <a:latin typeface="Trebuchet MS"/>
                <a:cs typeface="Trebuchet MS"/>
              </a:rPr>
              <a:t>958</a:t>
            </a:r>
            <a:r>
              <a:rPr sz="1150" spc="25" dirty="0">
                <a:solidFill>
                  <a:srgbClr val="2C3149"/>
                </a:solidFill>
                <a:latin typeface="Trebuchet MS"/>
                <a:cs typeface="Trebuchet MS"/>
              </a:rPr>
              <a:t> </a:t>
            </a:r>
            <a:r>
              <a:rPr sz="1150" spc="40" dirty="0">
                <a:solidFill>
                  <a:srgbClr val="2C3149"/>
                </a:solidFill>
                <a:latin typeface="Trebuchet MS"/>
                <a:cs typeface="Trebuchet MS"/>
              </a:rPr>
              <a:t>subscribers.</a:t>
            </a:r>
            <a:endParaRPr sz="1150">
              <a:latin typeface="Trebuchet MS"/>
              <a:cs typeface="Trebuchet MS"/>
            </a:endParaRPr>
          </a:p>
        </p:txBody>
      </p:sp>
      <p:pic>
        <p:nvPicPr>
          <p:cNvPr id="11" name="object 11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9166" y="5990021"/>
            <a:ext cx="1536373" cy="3669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E9D30A-74EA-09FF-A6C0-6033789A74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5516798"/>
            <a:ext cx="4800600" cy="922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0074" y="666749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1101359" y="323849"/>
                </a:moveTo>
                <a:lnTo>
                  <a:pt x="41639" y="323849"/>
                </a:lnTo>
                <a:lnTo>
                  <a:pt x="35516" y="322631"/>
                </a:lnTo>
                <a:lnTo>
                  <a:pt x="1218" y="288333"/>
                </a:lnTo>
                <a:lnTo>
                  <a:pt x="0" y="282209"/>
                </a:lnTo>
                <a:lnTo>
                  <a:pt x="0" y="275843"/>
                </a:lnTo>
                <a:lnTo>
                  <a:pt x="0" y="41639"/>
                </a:lnTo>
                <a:lnTo>
                  <a:pt x="23753" y="6090"/>
                </a:lnTo>
                <a:lnTo>
                  <a:pt x="41639" y="0"/>
                </a:lnTo>
                <a:lnTo>
                  <a:pt x="1101359" y="0"/>
                </a:lnTo>
                <a:lnTo>
                  <a:pt x="1136909" y="23753"/>
                </a:lnTo>
                <a:lnTo>
                  <a:pt x="1142999" y="41639"/>
                </a:lnTo>
                <a:lnTo>
                  <a:pt x="1142999" y="282209"/>
                </a:lnTo>
                <a:lnTo>
                  <a:pt x="1119246" y="317759"/>
                </a:lnTo>
                <a:lnTo>
                  <a:pt x="1107483" y="322631"/>
                </a:lnTo>
                <a:lnTo>
                  <a:pt x="1101359" y="323849"/>
                </a:lnTo>
                <a:close/>
              </a:path>
            </a:pathLst>
          </a:custGeom>
          <a:solidFill>
            <a:srgbClr val="DEEC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90215" y="716915"/>
            <a:ext cx="96710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100" dirty="0">
                <a:solidFill>
                  <a:srgbClr val="2B3249"/>
                </a:solidFill>
                <a:latin typeface="Trebuchet MS"/>
                <a:cs typeface="Trebuchet MS"/>
              </a:rPr>
              <a:t>SQL</a:t>
            </a:r>
            <a:r>
              <a:rPr sz="1050" spc="-4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2B3249"/>
                </a:solidFill>
                <a:latin typeface="Trebuchet MS"/>
                <a:cs typeface="Trebuchet MS"/>
              </a:rPr>
              <a:t>INSIGHTS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87374" y="1035050"/>
            <a:ext cx="431355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40" dirty="0"/>
              <a:t>Revenue</a:t>
            </a:r>
            <a:r>
              <a:rPr spc="-254" dirty="0"/>
              <a:t> </a:t>
            </a:r>
            <a:r>
              <a:rPr spc="-95" dirty="0"/>
              <a:t>by</a:t>
            </a:r>
            <a:r>
              <a:rPr spc="-250" dirty="0"/>
              <a:t> </a:t>
            </a:r>
            <a:r>
              <a:rPr spc="-145" dirty="0"/>
              <a:t>Age</a:t>
            </a:r>
            <a:r>
              <a:rPr spc="-254" dirty="0"/>
              <a:t> </a:t>
            </a:r>
            <a:r>
              <a:rPr spc="-160" dirty="0"/>
              <a:t>Group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35417" y="5196684"/>
            <a:ext cx="10033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45" dirty="0">
                <a:solidFill>
                  <a:srgbClr val="2B3249"/>
                </a:solidFill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38751" y="5196684"/>
            <a:ext cx="21209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25" dirty="0">
                <a:solidFill>
                  <a:srgbClr val="2B3249"/>
                </a:solidFill>
                <a:latin typeface="Tahoma"/>
                <a:cs typeface="Tahoma"/>
              </a:rPr>
              <a:t>10k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86585" y="5196684"/>
            <a:ext cx="23495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40" dirty="0">
                <a:solidFill>
                  <a:srgbClr val="2B3249"/>
                </a:solidFill>
                <a:latin typeface="Tahoma"/>
                <a:cs typeface="Tahoma"/>
              </a:rPr>
              <a:t>20k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65656" y="5196684"/>
            <a:ext cx="233679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40" dirty="0">
                <a:solidFill>
                  <a:srgbClr val="2B3249"/>
                </a:solidFill>
                <a:latin typeface="Tahoma"/>
                <a:cs typeface="Tahoma"/>
              </a:rPr>
              <a:t>50k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3610" y="5196684"/>
            <a:ext cx="236854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45" dirty="0">
                <a:solidFill>
                  <a:srgbClr val="2B3249"/>
                </a:solidFill>
                <a:latin typeface="Tahoma"/>
                <a:cs typeface="Tahoma"/>
              </a:rPr>
              <a:t>60k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06893" y="5143034"/>
            <a:ext cx="859790" cy="409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8100">
              <a:lnSpc>
                <a:spcPct val="139900"/>
              </a:lnSpc>
              <a:spcBef>
                <a:spcPts val="95"/>
              </a:spcBef>
              <a:tabLst>
                <a:tab pos="608965" algn="l"/>
              </a:tabLst>
            </a:pPr>
            <a:r>
              <a:rPr sz="900" spc="45" dirty="0">
                <a:solidFill>
                  <a:srgbClr val="2B3249"/>
                </a:solidFill>
                <a:latin typeface="Tahoma"/>
                <a:cs typeface="Tahoma"/>
              </a:rPr>
              <a:t>30k</a:t>
            </a:r>
            <a:r>
              <a:rPr sz="900" dirty="0">
                <a:solidFill>
                  <a:srgbClr val="2B3249"/>
                </a:solidFill>
                <a:latin typeface="Tahoma"/>
                <a:cs typeface="Tahoma"/>
              </a:rPr>
              <a:t>	</a:t>
            </a:r>
            <a:r>
              <a:rPr sz="900" spc="55" dirty="0">
                <a:solidFill>
                  <a:srgbClr val="2B3249"/>
                </a:solidFill>
                <a:latin typeface="Tahoma"/>
                <a:cs typeface="Tahoma"/>
              </a:rPr>
              <a:t>40k </a:t>
            </a:r>
            <a:r>
              <a:rPr sz="900" spc="10" dirty="0">
                <a:solidFill>
                  <a:srgbClr val="2B3249"/>
                </a:solidFill>
                <a:latin typeface="Tahoma"/>
                <a:cs typeface="Tahoma"/>
              </a:rPr>
              <a:t>Revenue</a:t>
            </a:r>
            <a:r>
              <a:rPr sz="900" spc="165" dirty="0">
                <a:solidFill>
                  <a:srgbClr val="2B3249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B3249"/>
                </a:solidFill>
                <a:latin typeface="Tahoma"/>
                <a:cs typeface="Tahoma"/>
              </a:rPr>
              <a:t>(USD)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30549" y="2593198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4">
                <a:moveTo>
                  <a:pt x="28132" y="10663"/>
                </a:moveTo>
                <a:lnTo>
                  <a:pt x="3859" y="10663"/>
                </a:lnTo>
                <a:lnTo>
                  <a:pt x="2602" y="10143"/>
                </a:lnTo>
                <a:lnTo>
                  <a:pt x="520" y="8061"/>
                </a:lnTo>
                <a:lnTo>
                  <a:pt x="0" y="6804"/>
                </a:lnTo>
                <a:lnTo>
                  <a:pt x="0" y="3859"/>
                </a:lnTo>
                <a:lnTo>
                  <a:pt x="520" y="2602"/>
                </a:lnTo>
                <a:lnTo>
                  <a:pt x="2602" y="520"/>
                </a:lnTo>
                <a:lnTo>
                  <a:pt x="3859" y="0"/>
                </a:lnTo>
                <a:lnTo>
                  <a:pt x="28132" y="0"/>
                </a:lnTo>
                <a:lnTo>
                  <a:pt x="29388" y="520"/>
                </a:lnTo>
                <a:lnTo>
                  <a:pt x="31471" y="2602"/>
                </a:lnTo>
                <a:lnTo>
                  <a:pt x="31991" y="3859"/>
                </a:lnTo>
                <a:lnTo>
                  <a:pt x="31991" y="6804"/>
                </a:lnTo>
                <a:lnTo>
                  <a:pt x="31471" y="8061"/>
                </a:lnTo>
                <a:lnTo>
                  <a:pt x="29388" y="10143"/>
                </a:lnTo>
                <a:lnTo>
                  <a:pt x="28132" y="10663"/>
                </a:lnTo>
                <a:close/>
              </a:path>
              <a:path w="85725" h="10794">
                <a:moveTo>
                  <a:pt x="81451" y="10663"/>
                </a:moveTo>
                <a:lnTo>
                  <a:pt x="57178" y="10663"/>
                </a:lnTo>
                <a:lnTo>
                  <a:pt x="55922" y="10143"/>
                </a:lnTo>
                <a:lnTo>
                  <a:pt x="53839" y="8061"/>
                </a:lnTo>
                <a:lnTo>
                  <a:pt x="53319" y="6804"/>
                </a:lnTo>
                <a:lnTo>
                  <a:pt x="53319" y="3859"/>
                </a:lnTo>
                <a:lnTo>
                  <a:pt x="53839" y="2602"/>
                </a:lnTo>
                <a:lnTo>
                  <a:pt x="55922" y="520"/>
                </a:lnTo>
                <a:lnTo>
                  <a:pt x="57178" y="0"/>
                </a:lnTo>
                <a:lnTo>
                  <a:pt x="81451" y="0"/>
                </a:lnTo>
                <a:lnTo>
                  <a:pt x="82708" y="520"/>
                </a:lnTo>
                <a:lnTo>
                  <a:pt x="84790" y="2602"/>
                </a:lnTo>
                <a:lnTo>
                  <a:pt x="85310" y="3859"/>
                </a:lnTo>
                <a:lnTo>
                  <a:pt x="85310" y="6804"/>
                </a:lnTo>
                <a:lnTo>
                  <a:pt x="84790" y="8061"/>
                </a:lnTo>
                <a:lnTo>
                  <a:pt x="82708" y="10143"/>
                </a:lnTo>
                <a:lnTo>
                  <a:pt x="81451" y="10663"/>
                </a:lnTo>
                <a:close/>
              </a:path>
            </a:pathLst>
          </a:custGeom>
          <a:solidFill>
            <a:srgbClr val="DEDE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20414" y="2536985"/>
            <a:ext cx="69659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solidFill>
                  <a:srgbClr val="2B3249"/>
                </a:solidFill>
                <a:latin typeface="Tahoma"/>
                <a:cs typeface="Tahoma"/>
              </a:rPr>
              <a:t>Young</a:t>
            </a:r>
            <a:r>
              <a:rPr sz="900" spc="185" dirty="0">
                <a:solidFill>
                  <a:srgbClr val="2B3249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B3249"/>
                </a:solidFill>
                <a:latin typeface="Tahoma"/>
                <a:cs typeface="Tahoma"/>
              </a:rPr>
              <a:t>Adult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30549" y="3339401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5">
                <a:moveTo>
                  <a:pt x="28132" y="10663"/>
                </a:moveTo>
                <a:lnTo>
                  <a:pt x="3859" y="10663"/>
                </a:lnTo>
                <a:lnTo>
                  <a:pt x="2602" y="10143"/>
                </a:lnTo>
                <a:lnTo>
                  <a:pt x="520" y="8061"/>
                </a:lnTo>
                <a:lnTo>
                  <a:pt x="0" y="6804"/>
                </a:lnTo>
                <a:lnTo>
                  <a:pt x="0" y="3859"/>
                </a:lnTo>
                <a:lnTo>
                  <a:pt x="520" y="2602"/>
                </a:lnTo>
                <a:lnTo>
                  <a:pt x="2602" y="520"/>
                </a:lnTo>
                <a:lnTo>
                  <a:pt x="3859" y="0"/>
                </a:lnTo>
                <a:lnTo>
                  <a:pt x="28132" y="0"/>
                </a:lnTo>
                <a:lnTo>
                  <a:pt x="29388" y="520"/>
                </a:lnTo>
                <a:lnTo>
                  <a:pt x="31471" y="2602"/>
                </a:lnTo>
                <a:lnTo>
                  <a:pt x="31991" y="3859"/>
                </a:lnTo>
                <a:lnTo>
                  <a:pt x="31991" y="6804"/>
                </a:lnTo>
                <a:lnTo>
                  <a:pt x="31471" y="8061"/>
                </a:lnTo>
                <a:lnTo>
                  <a:pt x="29388" y="10143"/>
                </a:lnTo>
                <a:lnTo>
                  <a:pt x="28132" y="10663"/>
                </a:lnTo>
                <a:close/>
              </a:path>
              <a:path w="85725" h="10795">
                <a:moveTo>
                  <a:pt x="81451" y="10663"/>
                </a:moveTo>
                <a:lnTo>
                  <a:pt x="57178" y="10663"/>
                </a:lnTo>
                <a:lnTo>
                  <a:pt x="55922" y="10143"/>
                </a:lnTo>
                <a:lnTo>
                  <a:pt x="53839" y="8061"/>
                </a:lnTo>
                <a:lnTo>
                  <a:pt x="53319" y="6804"/>
                </a:lnTo>
                <a:lnTo>
                  <a:pt x="53319" y="3859"/>
                </a:lnTo>
                <a:lnTo>
                  <a:pt x="53839" y="2602"/>
                </a:lnTo>
                <a:lnTo>
                  <a:pt x="55922" y="520"/>
                </a:lnTo>
                <a:lnTo>
                  <a:pt x="57178" y="0"/>
                </a:lnTo>
                <a:lnTo>
                  <a:pt x="81451" y="0"/>
                </a:lnTo>
                <a:lnTo>
                  <a:pt x="82708" y="520"/>
                </a:lnTo>
                <a:lnTo>
                  <a:pt x="84790" y="2602"/>
                </a:lnTo>
                <a:lnTo>
                  <a:pt x="85310" y="3859"/>
                </a:lnTo>
                <a:lnTo>
                  <a:pt x="85310" y="6804"/>
                </a:lnTo>
                <a:lnTo>
                  <a:pt x="84790" y="8061"/>
                </a:lnTo>
                <a:lnTo>
                  <a:pt x="82708" y="10143"/>
                </a:lnTo>
                <a:lnTo>
                  <a:pt x="81451" y="10663"/>
                </a:lnTo>
                <a:close/>
              </a:path>
            </a:pathLst>
          </a:custGeom>
          <a:solidFill>
            <a:srgbClr val="DEDE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9905" y="3283188"/>
            <a:ext cx="72707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60" dirty="0">
                <a:solidFill>
                  <a:srgbClr val="2B3249"/>
                </a:solidFill>
                <a:latin typeface="Tahoma"/>
                <a:cs typeface="Tahoma"/>
              </a:rPr>
              <a:t>Middle-</a:t>
            </a:r>
            <a:r>
              <a:rPr sz="900" spc="30" dirty="0">
                <a:solidFill>
                  <a:srgbClr val="2B3249"/>
                </a:solidFill>
                <a:latin typeface="Tahoma"/>
                <a:cs typeface="Tahoma"/>
              </a:rPr>
              <a:t>aged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30549" y="4085604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5">
                <a:moveTo>
                  <a:pt x="28132" y="10663"/>
                </a:moveTo>
                <a:lnTo>
                  <a:pt x="3859" y="10663"/>
                </a:lnTo>
                <a:lnTo>
                  <a:pt x="2602" y="10143"/>
                </a:lnTo>
                <a:lnTo>
                  <a:pt x="520" y="8061"/>
                </a:lnTo>
                <a:lnTo>
                  <a:pt x="0" y="6804"/>
                </a:lnTo>
                <a:lnTo>
                  <a:pt x="0" y="3859"/>
                </a:lnTo>
                <a:lnTo>
                  <a:pt x="520" y="2602"/>
                </a:lnTo>
                <a:lnTo>
                  <a:pt x="2602" y="520"/>
                </a:lnTo>
                <a:lnTo>
                  <a:pt x="3859" y="0"/>
                </a:lnTo>
                <a:lnTo>
                  <a:pt x="28132" y="0"/>
                </a:lnTo>
                <a:lnTo>
                  <a:pt x="29388" y="520"/>
                </a:lnTo>
                <a:lnTo>
                  <a:pt x="31471" y="2602"/>
                </a:lnTo>
                <a:lnTo>
                  <a:pt x="31991" y="3859"/>
                </a:lnTo>
                <a:lnTo>
                  <a:pt x="31991" y="6804"/>
                </a:lnTo>
                <a:lnTo>
                  <a:pt x="31471" y="8061"/>
                </a:lnTo>
                <a:lnTo>
                  <a:pt x="29388" y="10143"/>
                </a:lnTo>
                <a:lnTo>
                  <a:pt x="28132" y="10663"/>
                </a:lnTo>
                <a:close/>
              </a:path>
              <a:path w="85725" h="10795">
                <a:moveTo>
                  <a:pt x="81451" y="10663"/>
                </a:moveTo>
                <a:lnTo>
                  <a:pt x="57178" y="10663"/>
                </a:lnTo>
                <a:lnTo>
                  <a:pt x="55922" y="10143"/>
                </a:lnTo>
                <a:lnTo>
                  <a:pt x="53839" y="8061"/>
                </a:lnTo>
                <a:lnTo>
                  <a:pt x="53319" y="6804"/>
                </a:lnTo>
                <a:lnTo>
                  <a:pt x="53319" y="3859"/>
                </a:lnTo>
                <a:lnTo>
                  <a:pt x="53839" y="2602"/>
                </a:lnTo>
                <a:lnTo>
                  <a:pt x="55922" y="520"/>
                </a:lnTo>
                <a:lnTo>
                  <a:pt x="57178" y="0"/>
                </a:lnTo>
                <a:lnTo>
                  <a:pt x="81451" y="0"/>
                </a:lnTo>
                <a:lnTo>
                  <a:pt x="82708" y="520"/>
                </a:lnTo>
                <a:lnTo>
                  <a:pt x="84790" y="2602"/>
                </a:lnTo>
                <a:lnTo>
                  <a:pt x="85310" y="3859"/>
                </a:lnTo>
                <a:lnTo>
                  <a:pt x="85310" y="6804"/>
                </a:lnTo>
                <a:lnTo>
                  <a:pt x="84790" y="8061"/>
                </a:lnTo>
                <a:lnTo>
                  <a:pt x="82708" y="10143"/>
                </a:lnTo>
                <a:lnTo>
                  <a:pt x="81451" y="10663"/>
                </a:lnTo>
                <a:close/>
              </a:path>
            </a:pathLst>
          </a:custGeom>
          <a:solidFill>
            <a:srgbClr val="DEDE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00224" y="4029392"/>
            <a:ext cx="31686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solidFill>
                  <a:srgbClr val="2B3249"/>
                </a:solidFill>
                <a:latin typeface="Tahoma"/>
                <a:cs typeface="Tahoma"/>
              </a:rPr>
              <a:t>Adult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330549" y="4831808"/>
            <a:ext cx="85725" cy="10795"/>
          </a:xfrm>
          <a:custGeom>
            <a:avLst/>
            <a:gdLst/>
            <a:ahLst/>
            <a:cxnLst/>
            <a:rect l="l" t="t" r="r" b="b"/>
            <a:pathLst>
              <a:path w="85725" h="10795">
                <a:moveTo>
                  <a:pt x="28132" y="10663"/>
                </a:moveTo>
                <a:lnTo>
                  <a:pt x="3859" y="10663"/>
                </a:lnTo>
                <a:lnTo>
                  <a:pt x="2602" y="10143"/>
                </a:lnTo>
                <a:lnTo>
                  <a:pt x="520" y="8061"/>
                </a:lnTo>
                <a:lnTo>
                  <a:pt x="0" y="6804"/>
                </a:lnTo>
                <a:lnTo>
                  <a:pt x="0" y="3859"/>
                </a:lnTo>
                <a:lnTo>
                  <a:pt x="520" y="2602"/>
                </a:lnTo>
                <a:lnTo>
                  <a:pt x="2602" y="520"/>
                </a:lnTo>
                <a:lnTo>
                  <a:pt x="3859" y="0"/>
                </a:lnTo>
                <a:lnTo>
                  <a:pt x="28132" y="0"/>
                </a:lnTo>
                <a:lnTo>
                  <a:pt x="29388" y="520"/>
                </a:lnTo>
                <a:lnTo>
                  <a:pt x="31471" y="2602"/>
                </a:lnTo>
                <a:lnTo>
                  <a:pt x="31991" y="3859"/>
                </a:lnTo>
                <a:lnTo>
                  <a:pt x="31991" y="6804"/>
                </a:lnTo>
                <a:lnTo>
                  <a:pt x="31471" y="8061"/>
                </a:lnTo>
                <a:lnTo>
                  <a:pt x="29388" y="10143"/>
                </a:lnTo>
                <a:lnTo>
                  <a:pt x="28132" y="10663"/>
                </a:lnTo>
                <a:close/>
              </a:path>
              <a:path w="85725" h="10795">
                <a:moveTo>
                  <a:pt x="81451" y="10663"/>
                </a:moveTo>
                <a:lnTo>
                  <a:pt x="57178" y="10663"/>
                </a:lnTo>
                <a:lnTo>
                  <a:pt x="55922" y="10143"/>
                </a:lnTo>
                <a:lnTo>
                  <a:pt x="53839" y="8061"/>
                </a:lnTo>
                <a:lnTo>
                  <a:pt x="53319" y="6804"/>
                </a:lnTo>
                <a:lnTo>
                  <a:pt x="53319" y="3859"/>
                </a:lnTo>
                <a:lnTo>
                  <a:pt x="53839" y="2602"/>
                </a:lnTo>
                <a:lnTo>
                  <a:pt x="55922" y="520"/>
                </a:lnTo>
                <a:lnTo>
                  <a:pt x="57178" y="0"/>
                </a:lnTo>
                <a:lnTo>
                  <a:pt x="81451" y="0"/>
                </a:lnTo>
                <a:lnTo>
                  <a:pt x="82708" y="520"/>
                </a:lnTo>
                <a:lnTo>
                  <a:pt x="84790" y="2602"/>
                </a:lnTo>
                <a:lnTo>
                  <a:pt x="85310" y="3859"/>
                </a:lnTo>
                <a:lnTo>
                  <a:pt x="85310" y="6804"/>
                </a:lnTo>
                <a:lnTo>
                  <a:pt x="84790" y="8061"/>
                </a:lnTo>
                <a:lnTo>
                  <a:pt x="82708" y="10143"/>
                </a:lnTo>
                <a:lnTo>
                  <a:pt x="81451" y="10663"/>
                </a:lnTo>
                <a:close/>
              </a:path>
            </a:pathLst>
          </a:custGeom>
          <a:solidFill>
            <a:srgbClr val="DEDE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36972" y="4775595"/>
            <a:ext cx="37973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solidFill>
                  <a:srgbClr val="2B3249"/>
                </a:solidFill>
                <a:latin typeface="Tahoma"/>
                <a:cs typeface="Tahoma"/>
              </a:rPr>
              <a:t>Senior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7374" y="2011399"/>
            <a:ext cx="61404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65" dirty="0">
                <a:solidFill>
                  <a:srgbClr val="2B3249"/>
                </a:solidFill>
                <a:latin typeface="Tahoma"/>
                <a:cs typeface="Tahoma"/>
              </a:rPr>
              <a:t>Age</a:t>
            </a:r>
            <a:r>
              <a:rPr sz="900" spc="-40" dirty="0">
                <a:solidFill>
                  <a:srgbClr val="2B3249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B3249"/>
                </a:solidFill>
                <a:latin typeface="Tahoma"/>
                <a:cs typeface="Tahoma"/>
              </a:rPr>
              <a:t>Group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9843" y="2220096"/>
            <a:ext cx="3902972" cy="2995477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4615106" y="2491527"/>
            <a:ext cx="287655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spc="-10" dirty="0">
                <a:solidFill>
                  <a:srgbClr val="FFFFFF"/>
                </a:solidFill>
                <a:latin typeface="Trebuchet MS"/>
                <a:cs typeface="Trebuchet MS"/>
              </a:rPr>
              <a:t>62.1k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37298" y="3237731"/>
            <a:ext cx="287655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spc="-10" dirty="0">
                <a:solidFill>
                  <a:srgbClr val="FFFFFF"/>
                </a:solidFill>
                <a:latin typeface="Trebuchet MS"/>
                <a:cs typeface="Trebuchet MS"/>
              </a:rPr>
              <a:t>59.2k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47772" y="3983935"/>
            <a:ext cx="200660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spc="-25" dirty="0">
                <a:latin typeface="Trebuchet MS"/>
                <a:cs typeface="Trebuchet MS"/>
              </a:rPr>
              <a:t>56k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47101" y="4730138"/>
            <a:ext cx="287655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spc="-10" dirty="0">
                <a:latin typeface="Trebuchet MS"/>
                <a:cs typeface="Trebuchet MS"/>
              </a:rPr>
              <a:t>55.8k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3598" y="2533649"/>
            <a:ext cx="66675" cy="6667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3598" y="2867024"/>
            <a:ext cx="66675" cy="66674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5920928" y="2011362"/>
            <a:ext cx="2052955" cy="10077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65" dirty="0">
                <a:solidFill>
                  <a:srgbClr val="262D45"/>
                </a:solidFill>
                <a:latin typeface="Lucida Sans Unicode"/>
                <a:cs typeface="Lucida Sans Unicode"/>
              </a:rPr>
              <a:t>Shipping</a:t>
            </a:r>
            <a:r>
              <a:rPr sz="1650" spc="-75" dirty="0">
                <a:solidFill>
                  <a:srgbClr val="262D45"/>
                </a:solidFill>
                <a:latin typeface="Lucida Sans Unicode"/>
                <a:cs typeface="Lucida Sans Unicode"/>
              </a:rPr>
              <a:t> </a:t>
            </a:r>
            <a:r>
              <a:rPr sz="1650" spc="-65" dirty="0">
                <a:solidFill>
                  <a:srgbClr val="262D45"/>
                </a:solidFill>
                <a:latin typeface="Lucida Sans Unicode"/>
                <a:cs typeface="Lucida Sans Unicode"/>
              </a:rPr>
              <a:t>Comparison</a:t>
            </a:r>
            <a:endParaRPr sz="1650">
              <a:latin typeface="Lucida Sans Unicode"/>
              <a:cs typeface="Lucida Sans Unicode"/>
            </a:endParaRPr>
          </a:p>
          <a:p>
            <a:pPr marL="286385">
              <a:lnSpc>
                <a:spcPct val="100000"/>
              </a:lnSpc>
              <a:spcBef>
                <a:spcPts val="1470"/>
              </a:spcBef>
            </a:pPr>
            <a:r>
              <a:rPr sz="1350" b="1" spc="55" dirty="0">
                <a:solidFill>
                  <a:srgbClr val="2B3249"/>
                </a:solidFill>
                <a:latin typeface="Trebuchet MS"/>
                <a:cs typeface="Trebuchet MS"/>
              </a:rPr>
              <a:t>Standard:</a:t>
            </a:r>
            <a:r>
              <a:rPr sz="1350" b="1" spc="-7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$58.46</a:t>
            </a:r>
            <a:r>
              <a:rPr sz="1350" spc="-6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25" dirty="0">
                <a:solidFill>
                  <a:srgbClr val="2B3249"/>
                </a:solidFill>
                <a:latin typeface="Trebuchet MS"/>
                <a:cs typeface="Trebuchet MS"/>
              </a:rPr>
              <a:t>avg</a:t>
            </a:r>
            <a:endParaRPr sz="1350">
              <a:latin typeface="Trebuchet MS"/>
              <a:cs typeface="Trebuchet MS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b="1" spc="10" dirty="0">
                <a:solidFill>
                  <a:srgbClr val="2B3249"/>
                </a:solidFill>
                <a:latin typeface="Trebuchet MS"/>
                <a:cs typeface="Trebuchet MS"/>
              </a:rPr>
              <a:t>Express:</a:t>
            </a:r>
            <a:r>
              <a:rPr sz="1350" b="1" spc="5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$60.48</a:t>
            </a:r>
            <a:r>
              <a:rPr sz="1350" spc="5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25" dirty="0">
                <a:solidFill>
                  <a:srgbClr val="2B3249"/>
                </a:solidFill>
                <a:latin typeface="Trebuchet MS"/>
                <a:cs typeface="Trebuchet MS"/>
              </a:rPr>
              <a:t>avg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20928" y="3145789"/>
            <a:ext cx="450215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60" dirty="0">
                <a:solidFill>
                  <a:srgbClr val="2B3249"/>
                </a:solidFill>
                <a:latin typeface="Trebuchet MS"/>
                <a:cs typeface="Trebuchet MS"/>
              </a:rPr>
              <a:t>Express</a:t>
            </a:r>
            <a:r>
              <a:rPr sz="1350" spc="-4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2B3249"/>
                </a:solidFill>
                <a:latin typeface="Trebuchet MS"/>
                <a:cs typeface="Trebuchet MS"/>
              </a:rPr>
              <a:t>shipping</a:t>
            </a:r>
            <a:r>
              <a:rPr sz="1350" spc="-4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60" dirty="0">
                <a:solidFill>
                  <a:srgbClr val="2B3249"/>
                </a:solidFill>
                <a:latin typeface="Trebuchet MS"/>
                <a:cs typeface="Trebuchet MS"/>
              </a:rPr>
              <a:t>users</a:t>
            </a:r>
            <a:r>
              <a:rPr sz="1350" spc="-4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60" dirty="0">
                <a:solidFill>
                  <a:srgbClr val="2B3249"/>
                </a:solidFill>
                <a:latin typeface="Trebuchet MS"/>
                <a:cs typeface="Trebuchet MS"/>
              </a:rPr>
              <a:t>spend</a:t>
            </a:r>
            <a:r>
              <a:rPr sz="1350" spc="-4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2B3249"/>
                </a:solidFill>
                <a:latin typeface="Trebuchet MS"/>
                <a:cs typeface="Trebuchet MS"/>
              </a:rPr>
              <a:t>$2</a:t>
            </a:r>
            <a:r>
              <a:rPr sz="1350" b="1" spc="-4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b="1" spc="65" dirty="0">
                <a:solidFill>
                  <a:srgbClr val="2B3249"/>
                </a:solidFill>
                <a:latin typeface="Trebuchet MS"/>
                <a:cs typeface="Trebuchet MS"/>
              </a:rPr>
              <a:t>more</a:t>
            </a:r>
            <a:r>
              <a:rPr sz="1350" b="1" spc="-4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per</a:t>
            </a:r>
            <a:r>
              <a:rPr sz="1350" spc="-3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2B3249"/>
                </a:solidFill>
                <a:latin typeface="Trebuchet MS"/>
                <a:cs typeface="Trebuchet MS"/>
              </a:rPr>
              <a:t>purchase</a:t>
            </a:r>
            <a:r>
              <a:rPr sz="1350" spc="-4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2B3249"/>
                </a:solidFill>
                <a:latin typeface="Trebuchet MS"/>
                <a:cs typeface="Trebuchet MS"/>
              </a:rPr>
              <a:t>on </a:t>
            </a:r>
            <a:r>
              <a:rPr sz="1350" spc="-10" dirty="0">
                <a:solidFill>
                  <a:srgbClr val="2B3249"/>
                </a:solidFill>
                <a:latin typeface="Trebuchet MS"/>
                <a:cs typeface="Trebuchet MS"/>
              </a:rPr>
              <a:t>average.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29" name="object 29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3FA22A6-7632-F48A-9BC0-6FC7E2D087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5516798"/>
            <a:ext cx="4800600" cy="922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0074" y="1990724"/>
            <a:ext cx="1143000" cy="314325"/>
          </a:xfrm>
          <a:custGeom>
            <a:avLst/>
            <a:gdLst/>
            <a:ahLst/>
            <a:cxnLst/>
            <a:rect l="l" t="t" r="r" b="b"/>
            <a:pathLst>
              <a:path w="1143000" h="314325">
                <a:moveTo>
                  <a:pt x="1101359" y="314324"/>
                </a:moveTo>
                <a:lnTo>
                  <a:pt x="41639" y="314324"/>
                </a:lnTo>
                <a:lnTo>
                  <a:pt x="35516" y="313106"/>
                </a:lnTo>
                <a:lnTo>
                  <a:pt x="1218" y="278808"/>
                </a:lnTo>
                <a:lnTo>
                  <a:pt x="0" y="272684"/>
                </a:lnTo>
                <a:lnTo>
                  <a:pt x="0" y="266319"/>
                </a:lnTo>
                <a:lnTo>
                  <a:pt x="0" y="41639"/>
                </a:lnTo>
                <a:lnTo>
                  <a:pt x="23753" y="6090"/>
                </a:lnTo>
                <a:lnTo>
                  <a:pt x="41639" y="0"/>
                </a:lnTo>
                <a:lnTo>
                  <a:pt x="1101359" y="0"/>
                </a:lnTo>
                <a:lnTo>
                  <a:pt x="1136909" y="23753"/>
                </a:lnTo>
                <a:lnTo>
                  <a:pt x="1142999" y="41639"/>
                </a:lnTo>
                <a:lnTo>
                  <a:pt x="1142999" y="272684"/>
                </a:lnTo>
                <a:lnTo>
                  <a:pt x="1119246" y="308234"/>
                </a:lnTo>
                <a:lnTo>
                  <a:pt x="1107483" y="313106"/>
                </a:lnTo>
                <a:lnTo>
                  <a:pt x="1101359" y="314324"/>
                </a:lnTo>
                <a:close/>
              </a:path>
            </a:pathLst>
          </a:custGeom>
          <a:solidFill>
            <a:srgbClr val="DEEC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90215" y="2031364"/>
            <a:ext cx="96710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100" dirty="0">
                <a:solidFill>
                  <a:srgbClr val="2B3249"/>
                </a:solidFill>
                <a:latin typeface="Trebuchet MS"/>
                <a:cs typeface="Trebuchet MS"/>
              </a:rPr>
              <a:t>SQL</a:t>
            </a:r>
            <a:r>
              <a:rPr sz="1050" spc="-4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050" spc="80" dirty="0">
                <a:solidFill>
                  <a:srgbClr val="2B3249"/>
                </a:solidFill>
                <a:latin typeface="Trebuchet MS"/>
                <a:cs typeface="Trebuchet MS"/>
              </a:rPr>
              <a:t>INSIGHTS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87374" y="2359025"/>
            <a:ext cx="502983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95" dirty="0"/>
              <a:t>Top</a:t>
            </a:r>
            <a:r>
              <a:rPr spc="-260" dirty="0"/>
              <a:t> </a:t>
            </a:r>
            <a:r>
              <a:rPr spc="-140" dirty="0"/>
              <a:t>Products</a:t>
            </a:r>
            <a:r>
              <a:rPr spc="-254" dirty="0"/>
              <a:t> </a:t>
            </a:r>
            <a:r>
              <a:rPr spc="-170" dirty="0"/>
              <a:t>per</a:t>
            </a:r>
            <a:r>
              <a:rPr spc="-260" dirty="0"/>
              <a:t> </a:t>
            </a:r>
            <a:r>
              <a:rPr spc="-105" dirty="0"/>
              <a:t>Category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00074" y="3171824"/>
            <a:ext cx="2428875" cy="1276350"/>
            <a:chOff x="600074" y="3171824"/>
            <a:chExt cx="2428875" cy="1276350"/>
          </a:xfrm>
        </p:grpSpPr>
        <p:sp>
          <p:nvSpPr>
            <p:cNvPr id="6" name="object 6"/>
            <p:cNvSpPr/>
            <p:nvPr/>
          </p:nvSpPr>
          <p:spPr>
            <a:xfrm>
              <a:off x="604837" y="3176587"/>
              <a:ext cx="2419350" cy="1266825"/>
            </a:xfrm>
            <a:custGeom>
              <a:avLst/>
              <a:gdLst/>
              <a:ahLst/>
              <a:cxnLst/>
              <a:rect l="l" t="t" r="r" b="b"/>
              <a:pathLst>
                <a:path w="2419350" h="1266825">
                  <a:moveTo>
                    <a:pt x="2367732" y="1266824"/>
                  </a:moveTo>
                  <a:lnTo>
                    <a:pt x="51617" y="1266824"/>
                  </a:lnTo>
                  <a:lnTo>
                    <a:pt x="48025" y="1266470"/>
                  </a:lnTo>
                  <a:lnTo>
                    <a:pt x="13615" y="1248078"/>
                  </a:lnTo>
                  <a:lnTo>
                    <a:pt x="0" y="1215207"/>
                  </a:lnTo>
                  <a:lnTo>
                    <a:pt x="0" y="1211579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2367732" y="0"/>
                  </a:lnTo>
                  <a:lnTo>
                    <a:pt x="2405733" y="18745"/>
                  </a:lnTo>
                  <a:lnTo>
                    <a:pt x="2419349" y="51617"/>
                  </a:lnTo>
                  <a:lnTo>
                    <a:pt x="2419349" y="1215207"/>
                  </a:lnTo>
                  <a:lnTo>
                    <a:pt x="2400603" y="1253208"/>
                  </a:lnTo>
                  <a:lnTo>
                    <a:pt x="2371324" y="1266470"/>
                  </a:lnTo>
                  <a:lnTo>
                    <a:pt x="2367732" y="1266824"/>
                  </a:lnTo>
                  <a:close/>
                </a:path>
              </a:pathLst>
            </a:custGeom>
            <a:solidFill>
              <a:srgbClr val="DEE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4837" y="3176587"/>
              <a:ext cx="2419350" cy="1266825"/>
            </a:xfrm>
            <a:custGeom>
              <a:avLst/>
              <a:gdLst/>
              <a:ahLst/>
              <a:cxnLst/>
              <a:rect l="l" t="t" r="r" b="b"/>
              <a:pathLst>
                <a:path w="2419350" h="1266825">
                  <a:moveTo>
                    <a:pt x="0" y="1211579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3" y="48024"/>
                  </a:lnTo>
                  <a:lnTo>
                    <a:pt x="1061" y="44467"/>
                  </a:lnTo>
                  <a:lnTo>
                    <a:pt x="1769" y="40909"/>
                  </a:lnTo>
                  <a:lnTo>
                    <a:pt x="2817" y="37454"/>
                  </a:lnTo>
                  <a:lnTo>
                    <a:pt x="4205" y="34103"/>
                  </a:lnTo>
                  <a:lnTo>
                    <a:pt x="5593" y="30752"/>
                  </a:lnTo>
                  <a:lnTo>
                    <a:pt x="7295" y="27568"/>
                  </a:lnTo>
                  <a:lnTo>
                    <a:pt x="9310" y="24552"/>
                  </a:lnTo>
                  <a:lnTo>
                    <a:pt x="11325" y="21535"/>
                  </a:lnTo>
                  <a:lnTo>
                    <a:pt x="13615" y="18745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21536" y="11325"/>
                  </a:lnTo>
                  <a:lnTo>
                    <a:pt x="24552" y="9309"/>
                  </a:lnTo>
                  <a:lnTo>
                    <a:pt x="27568" y="7294"/>
                  </a:lnTo>
                  <a:lnTo>
                    <a:pt x="30752" y="5592"/>
                  </a:lnTo>
                  <a:lnTo>
                    <a:pt x="34103" y="4205"/>
                  </a:lnTo>
                  <a:lnTo>
                    <a:pt x="37454" y="2816"/>
                  </a:lnTo>
                  <a:lnTo>
                    <a:pt x="40909" y="1768"/>
                  </a:lnTo>
                  <a:lnTo>
                    <a:pt x="44467" y="1061"/>
                  </a:lnTo>
                  <a:lnTo>
                    <a:pt x="48025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2364104" y="0"/>
                  </a:lnTo>
                  <a:lnTo>
                    <a:pt x="2367732" y="0"/>
                  </a:lnTo>
                  <a:lnTo>
                    <a:pt x="2371324" y="353"/>
                  </a:lnTo>
                  <a:lnTo>
                    <a:pt x="2374882" y="1061"/>
                  </a:lnTo>
                  <a:lnTo>
                    <a:pt x="2378440" y="1768"/>
                  </a:lnTo>
                  <a:lnTo>
                    <a:pt x="2381894" y="2816"/>
                  </a:lnTo>
                  <a:lnTo>
                    <a:pt x="2385245" y="4205"/>
                  </a:lnTo>
                  <a:lnTo>
                    <a:pt x="2388597" y="5592"/>
                  </a:lnTo>
                  <a:lnTo>
                    <a:pt x="2403168" y="16180"/>
                  </a:lnTo>
                  <a:lnTo>
                    <a:pt x="2405733" y="18745"/>
                  </a:lnTo>
                  <a:lnTo>
                    <a:pt x="2408023" y="21535"/>
                  </a:lnTo>
                  <a:lnTo>
                    <a:pt x="2410038" y="24552"/>
                  </a:lnTo>
                  <a:lnTo>
                    <a:pt x="2412054" y="27568"/>
                  </a:lnTo>
                  <a:lnTo>
                    <a:pt x="2413755" y="30752"/>
                  </a:lnTo>
                  <a:lnTo>
                    <a:pt x="2415143" y="34103"/>
                  </a:lnTo>
                  <a:lnTo>
                    <a:pt x="2416532" y="37454"/>
                  </a:lnTo>
                  <a:lnTo>
                    <a:pt x="2417580" y="40909"/>
                  </a:lnTo>
                  <a:lnTo>
                    <a:pt x="2418287" y="44467"/>
                  </a:lnTo>
                  <a:lnTo>
                    <a:pt x="2418995" y="48024"/>
                  </a:lnTo>
                  <a:lnTo>
                    <a:pt x="2419349" y="51617"/>
                  </a:lnTo>
                  <a:lnTo>
                    <a:pt x="2419349" y="55244"/>
                  </a:lnTo>
                  <a:lnTo>
                    <a:pt x="2419349" y="1211579"/>
                  </a:lnTo>
                  <a:lnTo>
                    <a:pt x="2419349" y="1215207"/>
                  </a:lnTo>
                  <a:lnTo>
                    <a:pt x="2418995" y="1218799"/>
                  </a:lnTo>
                  <a:lnTo>
                    <a:pt x="2418287" y="1222357"/>
                  </a:lnTo>
                  <a:lnTo>
                    <a:pt x="2417580" y="1225915"/>
                  </a:lnTo>
                  <a:lnTo>
                    <a:pt x="2410038" y="1242272"/>
                  </a:lnTo>
                  <a:lnTo>
                    <a:pt x="2408023" y="1245288"/>
                  </a:lnTo>
                  <a:lnTo>
                    <a:pt x="2394797" y="1257514"/>
                  </a:lnTo>
                  <a:lnTo>
                    <a:pt x="2391781" y="1259529"/>
                  </a:lnTo>
                  <a:lnTo>
                    <a:pt x="2364104" y="1266824"/>
                  </a:lnTo>
                  <a:lnTo>
                    <a:pt x="55245" y="1266824"/>
                  </a:lnTo>
                  <a:lnTo>
                    <a:pt x="24552" y="1257514"/>
                  </a:lnTo>
                  <a:lnTo>
                    <a:pt x="21536" y="1255498"/>
                  </a:lnTo>
                  <a:lnTo>
                    <a:pt x="4205" y="1232720"/>
                  </a:lnTo>
                  <a:lnTo>
                    <a:pt x="2817" y="1229369"/>
                  </a:lnTo>
                  <a:lnTo>
                    <a:pt x="1769" y="1225915"/>
                  </a:lnTo>
                  <a:lnTo>
                    <a:pt x="1061" y="1222357"/>
                  </a:lnTo>
                  <a:lnTo>
                    <a:pt x="353" y="1218799"/>
                  </a:lnTo>
                  <a:lnTo>
                    <a:pt x="0" y="1215207"/>
                  </a:lnTo>
                  <a:lnTo>
                    <a:pt x="0" y="1211579"/>
                  </a:lnTo>
                  <a:close/>
                </a:path>
              </a:pathLst>
            </a:custGeom>
            <a:ln w="9524">
              <a:solidFill>
                <a:srgbClr val="C4D1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68349" y="3186509"/>
            <a:ext cx="1737995" cy="103251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>
              <a:lnSpc>
                <a:spcPct val="141000"/>
              </a:lnSpc>
              <a:spcBef>
                <a:spcPts val="495"/>
              </a:spcBef>
            </a:pPr>
            <a:r>
              <a:rPr sz="1650" spc="-10" dirty="0">
                <a:solidFill>
                  <a:srgbClr val="2B3249"/>
                </a:solidFill>
                <a:latin typeface="Lucida Sans Unicode"/>
                <a:cs typeface="Lucida Sans Unicode"/>
              </a:rPr>
              <a:t>Accessories </a:t>
            </a:r>
            <a:r>
              <a:rPr sz="1350" spc="-10" dirty="0">
                <a:solidFill>
                  <a:srgbClr val="2B3249"/>
                </a:solidFill>
                <a:latin typeface="Trebuchet MS"/>
                <a:cs typeface="Trebuchet MS"/>
              </a:rPr>
              <a:t>Jewelry</a:t>
            </a:r>
            <a:r>
              <a:rPr sz="1350" spc="-6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-125" dirty="0">
                <a:solidFill>
                  <a:srgbClr val="2B3249"/>
                </a:solidFill>
                <a:latin typeface="Trebuchet MS"/>
                <a:cs typeface="Trebuchet MS"/>
              </a:rPr>
              <a:t>·</a:t>
            </a:r>
            <a:r>
              <a:rPr sz="1350" spc="-6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70" dirty="0">
                <a:solidFill>
                  <a:srgbClr val="2B3249"/>
                </a:solidFill>
                <a:latin typeface="Trebuchet MS"/>
                <a:cs typeface="Trebuchet MS"/>
              </a:rPr>
              <a:t>Sunglasses</a:t>
            </a:r>
            <a:r>
              <a:rPr sz="1350" spc="-6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-114" dirty="0">
                <a:solidFill>
                  <a:srgbClr val="2B3249"/>
                </a:solidFill>
                <a:latin typeface="Trebuchet MS"/>
                <a:cs typeface="Trebuchet MS"/>
              </a:rPr>
              <a:t>· </a:t>
            </a:r>
            <a:r>
              <a:rPr sz="1350" spc="-20" dirty="0">
                <a:solidFill>
                  <a:srgbClr val="2B3249"/>
                </a:solidFill>
                <a:latin typeface="Trebuchet MS"/>
                <a:cs typeface="Trebuchet MS"/>
              </a:rPr>
              <a:t>Belt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00399" y="3171824"/>
            <a:ext cx="2428875" cy="1276350"/>
            <a:chOff x="3200399" y="3171824"/>
            <a:chExt cx="2428875" cy="1276350"/>
          </a:xfrm>
        </p:grpSpPr>
        <p:sp>
          <p:nvSpPr>
            <p:cNvPr id="10" name="object 10"/>
            <p:cNvSpPr/>
            <p:nvPr/>
          </p:nvSpPr>
          <p:spPr>
            <a:xfrm>
              <a:off x="3205162" y="3176587"/>
              <a:ext cx="2419350" cy="1266825"/>
            </a:xfrm>
            <a:custGeom>
              <a:avLst/>
              <a:gdLst/>
              <a:ahLst/>
              <a:cxnLst/>
              <a:rect l="l" t="t" r="r" b="b"/>
              <a:pathLst>
                <a:path w="2419350" h="1266825">
                  <a:moveTo>
                    <a:pt x="2367732" y="1266824"/>
                  </a:moveTo>
                  <a:lnTo>
                    <a:pt x="51617" y="1266824"/>
                  </a:lnTo>
                  <a:lnTo>
                    <a:pt x="48024" y="1266470"/>
                  </a:lnTo>
                  <a:lnTo>
                    <a:pt x="13615" y="1248078"/>
                  </a:lnTo>
                  <a:lnTo>
                    <a:pt x="0" y="1215207"/>
                  </a:lnTo>
                  <a:lnTo>
                    <a:pt x="0" y="1211579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2367732" y="0"/>
                  </a:lnTo>
                  <a:lnTo>
                    <a:pt x="2405733" y="18745"/>
                  </a:lnTo>
                  <a:lnTo>
                    <a:pt x="2419349" y="51617"/>
                  </a:lnTo>
                  <a:lnTo>
                    <a:pt x="2419349" y="1215207"/>
                  </a:lnTo>
                  <a:lnTo>
                    <a:pt x="2400603" y="1253208"/>
                  </a:lnTo>
                  <a:lnTo>
                    <a:pt x="2371324" y="1266470"/>
                  </a:lnTo>
                  <a:lnTo>
                    <a:pt x="2367732" y="1266824"/>
                  </a:lnTo>
                  <a:close/>
                </a:path>
              </a:pathLst>
            </a:custGeom>
            <a:solidFill>
              <a:srgbClr val="DEE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05162" y="3176587"/>
              <a:ext cx="2419350" cy="1266825"/>
            </a:xfrm>
            <a:custGeom>
              <a:avLst/>
              <a:gdLst/>
              <a:ahLst/>
              <a:cxnLst/>
              <a:rect l="l" t="t" r="r" b="b"/>
              <a:pathLst>
                <a:path w="2419350" h="1266825">
                  <a:moveTo>
                    <a:pt x="0" y="1211579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3" y="48024"/>
                  </a:lnTo>
                  <a:lnTo>
                    <a:pt x="9309" y="24552"/>
                  </a:lnTo>
                  <a:lnTo>
                    <a:pt x="11325" y="21535"/>
                  </a:lnTo>
                  <a:lnTo>
                    <a:pt x="13615" y="18745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34103" y="4205"/>
                  </a:lnTo>
                  <a:lnTo>
                    <a:pt x="37454" y="2816"/>
                  </a:lnTo>
                  <a:lnTo>
                    <a:pt x="40908" y="1768"/>
                  </a:lnTo>
                  <a:lnTo>
                    <a:pt x="44466" y="1061"/>
                  </a:lnTo>
                  <a:lnTo>
                    <a:pt x="48024" y="353"/>
                  </a:lnTo>
                  <a:lnTo>
                    <a:pt x="51617" y="0"/>
                  </a:lnTo>
                  <a:lnTo>
                    <a:pt x="55244" y="0"/>
                  </a:lnTo>
                  <a:lnTo>
                    <a:pt x="2364104" y="0"/>
                  </a:lnTo>
                  <a:lnTo>
                    <a:pt x="2367732" y="0"/>
                  </a:lnTo>
                  <a:lnTo>
                    <a:pt x="2371324" y="353"/>
                  </a:lnTo>
                  <a:lnTo>
                    <a:pt x="2374882" y="1061"/>
                  </a:lnTo>
                  <a:lnTo>
                    <a:pt x="2378440" y="1768"/>
                  </a:lnTo>
                  <a:lnTo>
                    <a:pt x="2381894" y="2816"/>
                  </a:lnTo>
                  <a:lnTo>
                    <a:pt x="2385246" y="4205"/>
                  </a:lnTo>
                  <a:lnTo>
                    <a:pt x="2388597" y="5592"/>
                  </a:lnTo>
                  <a:lnTo>
                    <a:pt x="2403168" y="16180"/>
                  </a:lnTo>
                  <a:lnTo>
                    <a:pt x="2405733" y="18745"/>
                  </a:lnTo>
                  <a:lnTo>
                    <a:pt x="2408023" y="21535"/>
                  </a:lnTo>
                  <a:lnTo>
                    <a:pt x="2410038" y="24552"/>
                  </a:lnTo>
                  <a:lnTo>
                    <a:pt x="2412054" y="27568"/>
                  </a:lnTo>
                  <a:lnTo>
                    <a:pt x="2413755" y="30752"/>
                  </a:lnTo>
                  <a:lnTo>
                    <a:pt x="2415143" y="34103"/>
                  </a:lnTo>
                  <a:lnTo>
                    <a:pt x="2416531" y="37454"/>
                  </a:lnTo>
                  <a:lnTo>
                    <a:pt x="2417580" y="40909"/>
                  </a:lnTo>
                  <a:lnTo>
                    <a:pt x="2418287" y="44467"/>
                  </a:lnTo>
                  <a:lnTo>
                    <a:pt x="2418995" y="48024"/>
                  </a:lnTo>
                  <a:lnTo>
                    <a:pt x="2419349" y="51617"/>
                  </a:lnTo>
                  <a:lnTo>
                    <a:pt x="2419349" y="55244"/>
                  </a:lnTo>
                  <a:lnTo>
                    <a:pt x="2419349" y="1211579"/>
                  </a:lnTo>
                  <a:lnTo>
                    <a:pt x="2419349" y="1215207"/>
                  </a:lnTo>
                  <a:lnTo>
                    <a:pt x="2418995" y="1218799"/>
                  </a:lnTo>
                  <a:lnTo>
                    <a:pt x="2418287" y="1222357"/>
                  </a:lnTo>
                  <a:lnTo>
                    <a:pt x="2417580" y="1225915"/>
                  </a:lnTo>
                  <a:lnTo>
                    <a:pt x="2416531" y="1229369"/>
                  </a:lnTo>
                  <a:lnTo>
                    <a:pt x="2415143" y="1232720"/>
                  </a:lnTo>
                  <a:lnTo>
                    <a:pt x="2413755" y="1236071"/>
                  </a:lnTo>
                  <a:lnTo>
                    <a:pt x="2403168" y="1250643"/>
                  </a:lnTo>
                  <a:lnTo>
                    <a:pt x="2400603" y="1253208"/>
                  </a:lnTo>
                  <a:lnTo>
                    <a:pt x="2397812" y="1255499"/>
                  </a:lnTo>
                  <a:lnTo>
                    <a:pt x="2394796" y="1257514"/>
                  </a:lnTo>
                  <a:lnTo>
                    <a:pt x="2391780" y="1259529"/>
                  </a:lnTo>
                  <a:lnTo>
                    <a:pt x="2388597" y="1261231"/>
                  </a:lnTo>
                  <a:lnTo>
                    <a:pt x="2385245" y="1262619"/>
                  </a:lnTo>
                  <a:lnTo>
                    <a:pt x="2381893" y="1264007"/>
                  </a:lnTo>
                  <a:lnTo>
                    <a:pt x="2378439" y="1265054"/>
                  </a:lnTo>
                  <a:lnTo>
                    <a:pt x="2374882" y="1265762"/>
                  </a:lnTo>
                  <a:lnTo>
                    <a:pt x="2371324" y="1266470"/>
                  </a:lnTo>
                  <a:lnTo>
                    <a:pt x="2367732" y="1266824"/>
                  </a:lnTo>
                  <a:lnTo>
                    <a:pt x="2364104" y="1266824"/>
                  </a:lnTo>
                  <a:lnTo>
                    <a:pt x="55244" y="1266824"/>
                  </a:lnTo>
                  <a:lnTo>
                    <a:pt x="18745" y="1253208"/>
                  </a:lnTo>
                  <a:lnTo>
                    <a:pt x="4204" y="1232720"/>
                  </a:lnTo>
                  <a:lnTo>
                    <a:pt x="2816" y="1229369"/>
                  </a:lnTo>
                  <a:lnTo>
                    <a:pt x="1769" y="1225915"/>
                  </a:lnTo>
                  <a:lnTo>
                    <a:pt x="1061" y="1222357"/>
                  </a:lnTo>
                  <a:lnTo>
                    <a:pt x="353" y="1218799"/>
                  </a:lnTo>
                  <a:lnTo>
                    <a:pt x="0" y="1215207"/>
                  </a:lnTo>
                  <a:lnTo>
                    <a:pt x="0" y="1211579"/>
                  </a:lnTo>
                  <a:close/>
                </a:path>
              </a:pathLst>
            </a:custGeom>
            <a:ln w="9524">
              <a:solidFill>
                <a:srgbClr val="C4D1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68675" y="3186509"/>
            <a:ext cx="1696085" cy="75628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spc="-10" dirty="0">
                <a:solidFill>
                  <a:srgbClr val="2B3249"/>
                </a:solidFill>
                <a:latin typeface="Lucida Sans Unicode"/>
                <a:cs typeface="Lucida Sans Unicode"/>
              </a:rPr>
              <a:t>Clothing</a:t>
            </a:r>
            <a:endParaRPr sz="16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350" spc="55" dirty="0">
                <a:solidFill>
                  <a:srgbClr val="2B3249"/>
                </a:solidFill>
                <a:latin typeface="Trebuchet MS"/>
                <a:cs typeface="Trebuchet MS"/>
              </a:rPr>
              <a:t>Blouse</a:t>
            </a:r>
            <a:r>
              <a:rPr sz="1350" spc="-6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-125" dirty="0">
                <a:solidFill>
                  <a:srgbClr val="2B3249"/>
                </a:solidFill>
                <a:latin typeface="Trebuchet MS"/>
                <a:cs typeface="Trebuchet MS"/>
              </a:rPr>
              <a:t>·</a:t>
            </a:r>
            <a:r>
              <a:rPr sz="1350" spc="-6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65" dirty="0">
                <a:solidFill>
                  <a:srgbClr val="2B3249"/>
                </a:solidFill>
                <a:latin typeface="Trebuchet MS"/>
                <a:cs typeface="Trebuchet MS"/>
              </a:rPr>
              <a:t>Pants</a:t>
            </a:r>
            <a:r>
              <a:rPr sz="1350" spc="-6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-125" dirty="0">
                <a:solidFill>
                  <a:srgbClr val="2B3249"/>
                </a:solidFill>
                <a:latin typeface="Trebuchet MS"/>
                <a:cs typeface="Trebuchet MS"/>
              </a:rPr>
              <a:t>·</a:t>
            </a:r>
            <a:r>
              <a:rPr sz="1350" spc="-6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35" dirty="0">
                <a:solidFill>
                  <a:srgbClr val="2B3249"/>
                </a:solidFill>
                <a:latin typeface="Trebuchet MS"/>
                <a:cs typeface="Trebuchet MS"/>
              </a:rPr>
              <a:t>Shirt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800723" y="3171824"/>
            <a:ext cx="2428875" cy="1276350"/>
            <a:chOff x="5800723" y="3171824"/>
            <a:chExt cx="2428875" cy="1276350"/>
          </a:xfrm>
        </p:grpSpPr>
        <p:sp>
          <p:nvSpPr>
            <p:cNvPr id="14" name="object 14"/>
            <p:cNvSpPr/>
            <p:nvPr/>
          </p:nvSpPr>
          <p:spPr>
            <a:xfrm>
              <a:off x="5805486" y="3176587"/>
              <a:ext cx="2419350" cy="1266825"/>
            </a:xfrm>
            <a:custGeom>
              <a:avLst/>
              <a:gdLst/>
              <a:ahLst/>
              <a:cxnLst/>
              <a:rect l="l" t="t" r="r" b="b"/>
              <a:pathLst>
                <a:path w="2419350" h="1266825">
                  <a:moveTo>
                    <a:pt x="2367732" y="1266824"/>
                  </a:moveTo>
                  <a:lnTo>
                    <a:pt x="51617" y="1266824"/>
                  </a:lnTo>
                  <a:lnTo>
                    <a:pt x="48024" y="1266470"/>
                  </a:lnTo>
                  <a:lnTo>
                    <a:pt x="13615" y="1248078"/>
                  </a:lnTo>
                  <a:lnTo>
                    <a:pt x="0" y="1215207"/>
                  </a:lnTo>
                  <a:lnTo>
                    <a:pt x="0" y="1211579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2367732" y="0"/>
                  </a:lnTo>
                  <a:lnTo>
                    <a:pt x="2405733" y="18745"/>
                  </a:lnTo>
                  <a:lnTo>
                    <a:pt x="2419350" y="51617"/>
                  </a:lnTo>
                  <a:lnTo>
                    <a:pt x="2419350" y="1215207"/>
                  </a:lnTo>
                  <a:lnTo>
                    <a:pt x="2400603" y="1253208"/>
                  </a:lnTo>
                  <a:lnTo>
                    <a:pt x="2371324" y="1266470"/>
                  </a:lnTo>
                  <a:lnTo>
                    <a:pt x="2367732" y="1266824"/>
                  </a:lnTo>
                  <a:close/>
                </a:path>
              </a:pathLst>
            </a:custGeom>
            <a:solidFill>
              <a:srgbClr val="DEE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05486" y="3176587"/>
              <a:ext cx="2419350" cy="1266825"/>
            </a:xfrm>
            <a:custGeom>
              <a:avLst/>
              <a:gdLst/>
              <a:ahLst/>
              <a:cxnLst/>
              <a:rect l="l" t="t" r="r" b="b"/>
              <a:pathLst>
                <a:path w="2419350" h="1266825">
                  <a:moveTo>
                    <a:pt x="0" y="1211579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1" y="44467"/>
                  </a:lnTo>
                  <a:lnTo>
                    <a:pt x="1769" y="40909"/>
                  </a:lnTo>
                  <a:lnTo>
                    <a:pt x="2816" y="37454"/>
                  </a:lnTo>
                  <a:lnTo>
                    <a:pt x="4205" y="34103"/>
                  </a:lnTo>
                  <a:lnTo>
                    <a:pt x="5592" y="30752"/>
                  </a:lnTo>
                  <a:lnTo>
                    <a:pt x="7294" y="27568"/>
                  </a:lnTo>
                  <a:lnTo>
                    <a:pt x="9309" y="24552"/>
                  </a:lnTo>
                  <a:lnTo>
                    <a:pt x="11325" y="21535"/>
                  </a:lnTo>
                  <a:lnTo>
                    <a:pt x="13615" y="18745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21535" y="11325"/>
                  </a:lnTo>
                  <a:lnTo>
                    <a:pt x="24552" y="9309"/>
                  </a:lnTo>
                  <a:lnTo>
                    <a:pt x="27568" y="7294"/>
                  </a:lnTo>
                  <a:lnTo>
                    <a:pt x="30751" y="5592"/>
                  </a:lnTo>
                  <a:lnTo>
                    <a:pt x="34103" y="4205"/>
                  </a:lnTo>
                  <a:lnTo>
                    <a:pt x="37454" y="2816"/>
                  </a:lnTo>
                  <a:lnTo>
                    <a:pt x="40909" y="1768"/>
                  </a:lnTo>
                  <a:lnTo>
                    <a:pt x="44467" y="1061"/>
                  </a:lnTo>
                  <a:lnTo>
                    <a:pt x="48024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2364105" y="0"/>
                  </a:lnTo>
                  <a:lnTo>
                    <a:pt x="2367732" y="0"/>
                  </a:lnTo>
                  <a:lnTo>
                    <a:pt x="2371325" y="353"/>
                  </a:lnTo>
                  <a:lnTo>
                    <a:pt x="2374882" y="1061"/>
                  </a:lnTo>
                  <a:lnTo>
                    <a:pt x="2378440" y="1768"/>
                  </a:lnTo>
                  <a:lnTo>
                    <a:pt x="2381894" y="2816"/>
                  </a:lnTo>
                  <a:lnTo>
                    <a:pt x="2385245" y="4205"/>
                  </a:lnTo>
                  <a:lnTo>
                    <a:pt x="2388596" y="5592"/>
                  </a:lnTo>
                  <a:lnTo>
                    <a:pt x="2410038" y="24552"/>
                  </a:lnTo>
                  <a:lnTo>
                    <a:pt x="2412054" y="27568"/>
                  </a:lnTo>
                  <a:lnTo>
                    <a:pt x="2413755" y="30752"/>
                  </a:lnTo>
                  <a:lnTo>
                    <a:pt x="2415144" y="34103"/>
                  </a:lnTo>
                  <a:lnTo>
                    <a:pt x="2416533" y="37454"/>
                  </a:lnTo>
                  <a:lnTo>
                    <a:pt x="2417580" y="40909"/>
                  </a:lnTo>
                  <a:lnTo>
                    <a:pt x="2418288" y="44467"/>
                  </a:lnTo>
                  <a:lnTo>
                    <a:pt x="2418996" y="48024"/>
                  </a:lnTo>
                  <a:lnTo>
                    <a:pt x="2419350" y="51617"/>
                  </a:lnTo>
                  <a:lnTo>
                    <a:pt x="2419350" y="55244"/>
                  </a:lnTo>
                  <a:lnTo>
                    <a:pt x="2419350" y="1211579"/>
                  </a:lnTo>
                  <a:lnTo>
                    <a:pt x="2419350" y="1215207"/>
                  </a:lnTo>
                  <a:lnTo>
                    <a:pt x="2418996" y="1218799"/>
                  </a:lnTo>
                  <a:lnTo>
                    <a:pt x="2418288" y="1222357"/>
                  </a:lnTo>
                  <a:lnTo>
                    <a:pt x="2417580" y="1225915"/>
                  </a:lnTo>
                  <a:lnTo>
                    <a:pt x="2394796" y="1257514"/>
                  </a:lnTo>
                  <a:lnTo>
                    <a:pt x="2385244" y="1262619"/>
                  </a:lnTo>
                  <a:lnTo>
                    <a:pt x="2381893" y="1264007"/>
                  </a:lnTo>
                  <a:lnTo>
                    <a:pt x="2378439" y="1265054"/>
                  </a:lnTo>
                  <a:lnTo>
                    <a:pt x="2374882" y="1265762"/>
                  </a:lnTo>
                  <a:lnTo>
                    <a:pt x="2371324" y="1266470"/>
                  </a:lnTo>
                  <a:lnTo>
                    <a:pt x="2367732" y="1266824"/>
                  </a:lnTo>
                  <a:lnTo>
                    <a:pt x="2364105" y="1266824"/>
                  </a:lnTo>
                  <a:lnTo>
                    <a:pt x="55245" y="1266824"/>
                  </a:lnTo>
                  <a:lnTo>
                    <a:pt x="51617" y="1266824"/>
                  </a:lnTo>
                  <a:lnTo>
                    <a:pt x="48024" y="1266470"/>
                  </a:lnTo>
                  <a:lnTo>
                    <a:pt x="44467" y="1265762"/>
                  </a:lnTo>
                  <a:lnTo>
                    <a:pt x="40909" y="1265054"/>
                  </a:lnTo>
                  <a:lnTo>
                    <a:pt x="37454" y="1264007"/>
                  </a:lnTo>
                  <a:lnTo>
                    <a:pt x="34103" y="1262619"/>
                  </a:lnTo>
                  <a:lnTo>
                    <a:pt x="30751" y="1261231"/>
                  </a:lnTo>
                  <a:lnTo>
                    <a:pt x="16180" y="1250643"/>
                  </a:lnTo>
                  <a:lnTo>
                    <a:pt x="13615" y="1248078"/>
                  </a:lnTo>
                  <a:lnTo>
                    <a:pt x="4205" y="1232720"/>
                  </a:lnTo>
                  <a:lnTo>
                    <a:pt x="2816" y="1229369"/>
                  </a:lnTo>
                  <a:lnTo>
                    <a:pt x="1769" y="1225915"/>
                  </a:lnTo>
                  <a:lnTo>
                    <a:pt x="1061" y="1222357"/>
                  </a:lnTo>
                  <a:lnTo>
                    <a:pt x="354" y="1218799"/>
                  </a:lnTo>
                  <a:lnTo>
                    <a:pt x="0" y="1215207"/>
                  </a:lnTo>
                  <a:lnTo>
                    <a:pt x="0" y="1211579"/>
                  </a:lnTo>
                  <a:close/>
                </a:path>
              </a:pathLst>
            </a:custGeom>
            <a:ln w="9524">
              <a:solidFill>
                <a:srgbClr val="C4D1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968999" y="3186509"/>
            <a:ext cx="1369060" cy="103251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>
              <a:lnSpc>
                <a:spcPct val="141000"/>
              </a:lnSpc>
              <a:spcBef>
                <a:spcPts val="495"/>
              </a:spcBef>
            </a:pPr>
            <a:r>
              <a:rPr sz="1650" spc="-10" dirty="0">
                <a:solidFill>
                  <a:srgbClr val="2B3249"/>
                </a:solidFill>
                <a:latin typeface="Lucida Sans Unicode"/>
                <a:cs typeface="Lucida Sans Unicode"/>
              </a:rPr>
              <a:t>Footwear </a:t>
            </a:r>
            <a:r>
              <a:rPr sz="1350" spc="60" dirty="0">
                <a:solidFill>
                  <a:srgbClr val="2B3249"/>
                </a:solidFill>
                <a:latin typeface="Trebuchet MS"/>
                <a:cs typeface="Trebuchet MS"/>
              </a:rPr>
              <a:t>Sandals</a:t>
            </a:r>
            <a:r>
              <a:rPr sz="1350" spc="-6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-125" dirty="0">
                <a:solidFill>
                  <a:srgbClr val="2B3249"/>
                </a:solidFill>
                <a:latin typeface="Trebuchet MS"/>
                <a:cs typeface="Trebuchet MS"/>
              </a:rPr>
              <a:t>·</a:t>
            </a:r>
            <a:r>
              <a:rPr sz="1350" spc="-6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85" dirty="0">
                <a:solidFill>
                  <a:srgbClr val="2B3249"/>
                </a:solidFill>
                <a:latin typeface="Trebuchet MS"/>
                <a:cs typeface="Trebuchet MS"/>
              </a:rPr>
              <a:t>Shoes</a:t>
            </a:r>
            <a:r>
              <a:rPr sz="1350" spc="-6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-145" dirty="0">
                <a:solidFill>
                  <a:srgbClr val="2B3249"/>
                </a:solidFill>
                <a:latin typeface="Trebuchet MS"/>
                <a:cs typeface="Trebuchet MS"/>
              </a:rPr>
              <a:t>· </a:t>
            </a:r>
            <a:r>
              <a:rPr sz="1350" spc="45" dirty="0">
                <a:solidFill>
                  <a:srgbClr val="2B3249"/>
                </a:solidFill>
                <a:latin typeface="Trebuchet MS"/>
                <a:cs typeface="Trebuchet MS"/>
              </a:rPr>
              <a:t>Sneakers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401048" y="3171824"/>
            <a:ext cx="2428875" cy="1276350"/>
            <a:chOff x="8401048" y="3171824"/>
            <a:chExt cx="2428875" cy="1276350"/>
          </a:xfrm>
        </p:grpSpPr>
        <p:sp>
          <p:nvSpPr>
            <p:cNvPr id="18" name="object 18"/>
            <p:cNvSpPr/>
            <p:nvPr/>
          </p:nvSpPr>
          <p:spPr>
            <a:xfrm>
              <a:off x="8405810" y="3176587"/>
              <a:ext cx="2419350" cy="1266825"/>
            </a:xfrm>
            <a:custGeom>
              <a:avLst/>
              <a:gdLst/>
              <a:ahLst/>
              <a:cxnLst/>
              <a:rect l="l" t="t" r="r" b="b"/>
              <a:pathLst>
                <a:path w="2419350" h="1266825">
                  <a:moveTo>
                    <a:pt x="2367731" y="1266824"/>
                  </a:moveTo>
                  <a:lnTo>
                    <a:pt x="51617" y="1266824"/>
                  </a:lnTo>
                  <a:lnTo>
                    <a:pt x="48024" y="1266470"/>
                  </a:lnTo>
                  <a:lnTo>
                    <a:pt x="13615" y="1248078"/>
                  </a:lnTo>
                  <a:lnTo>
                    <a:pt x="0" y="1215207"/>
                  </a:lnTo>
                  <a:lnTo>
                    <a:pt x="0" y="1211579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2367731" y="0"/>
                  </a:lnTo>
                  <a:lnTo>
                    <a:pt x="2405732" y="18745"/>
                  </a:lnTo>
                  <a:lnTo>
                    <a:pt x="2419349" y="51617"/>
                  </a:lnTo>
                  <a:lnTo>
                    <a:pt x="2419349" y="1215207"/>
                  </a:lnTo>
                  <a:lnTo>
                    <a:pt x="2400603" y="1253208"/>
                  </a:lnTo>
                  <a:lnTo>
                    <a:pt x="2371324" y="1266470"/>
                  </a:lnTo>
                  <a:lnTo>
                    <a:pt x="2367731" y="1266824"/>
                  </a:lnTo>
                  <a:close/>
                </a:path>
              </a:pathLst>
            </a:custGeom>
            <a:solidFill>
              <a:srgbClr val="DEE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405810" y="3176587"/>
              <a:ext cx="2419350" cy="1266825"/>
            </a:xfrm>
            <a:custGeom>
              <a:avLst/>
              <a:gdLst/>
              <a:ahLst/>
              <a:cxnLst/>
              <a:rect l="l" t="t" r="r" b="b"/>
              <a:pathLst>
                <a:path w="2419350" h="1266825">
                  <a:moveTo>
                    <a:pt x="0" y="1211579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1" y="44467"/>
                  </a:lnTo>
                  <a:lnTo>
                    <a:pt x="1769" y="40909"/>
                  </a:lnTo>
                  <a:lnTo>
                    <a:pt x="2816" y="37454"/>
                  </a:lnTo>
                  <a:lnTo>
                    <a:pt x="4205" y="34103"/>
                  </a:lnTo>
                  <a:lnTo>
                    <a:pt x="5592" y="30752"/>
                  </a:lnTo>
                  <a:lnTo>
                    <a:pt x="7294" y="27568"/>
                  </a:lnTo>
                  <a:lnTo>
                    <a:pt x="9309" y="24552"/>
                  </a:lnTo>
                  <a:lnTo>
                    <a:pt x="11325" y="21535"/>
                  </a:lnTo>
                  <a:lnTo>
                    <a:pt x="13615" y="18745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21536" y="11325"/>
                  </a:lnTo>
                  <a:lnTo>
                    <a:pt x="24552" y="9309"/>
                  </a:lnTo>
                  <a:lnTo>
                    <a:pt x="27568" y="7294"/>
                  </a:lnTo>
                  <a:lnTo>
                    <a:pt x="30752" y="5592"/>
                  </a:lnTo>
                  <a:lnTo>
                    <a:pt x="34103" y="4205"/>
                  </a:lnTo>
                  <a:lnTo>
                    <a:pt x="37455" y="2816"/>
                  </a:lnTo>
                  <a:lnTo>
                    <a:pt x="40909" y="1768"/>
                  </a:lnTo>
                  <a:lnTo>
                    <a:pt x="44467" y="1061"/>
                  </a:lnTo>
                  <a:lnTo>
                    <a:pt x="48024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2364104" y="0"/>
                  </a:lnTo>
                  <a:lnTo>
                    <a:pt x="2367731" y="0"/>
                  </a:lnTo>
                  <a:lnTo>
                    <a:pt x="2371324" y="353"/>
                  </a:lnTo>
                  <a:lnTo>
                    <a:pt x="2374882" y="1061"/>
                  </a:lnTo>
                  <a:lnTo>
                    <a:pt x="2378440" y="1768"/>
                  </a:lnTo>
                  <a:lnTo>
                    <a:pt x="2381894" y="2816"/>
                  </a:lnTo>
                  <a:lnTo>
                    <a:pt x="2385245" y="4205"/>
                  </a:lnTo>
                  <a:lnTo>
                    <a:pt x="2388597" y="5592"/>
                  </a:lnTo>
                  <a:lnTo>
                    <a:pt x="2391781" y="7294"/>
                  </a:lnTo>
                  <a:lnTo>
                    <a:pt x="2394796" y="9310"/>
                  </a:lnTo>
                  <a:lnTo>
                    <a:pt x="2397813" y="11325"/>
                  </a:lnTo>
                  <a:lnTo>
                    <a:pt x="2410038" y="24552"/>
                  </a:lnTo>
                  <a:lnTo>
                    <a:pt x="2412053" y="27568"/>
                  </a:lnTo>
                  <a:lnTo>
                    <a:pt x="2418287" y="44467"/>
                  </a:lnTo>
                  <a:lnTo>
                    <a:pt x="2418995" y="48024"/>
                  </a:lnTo>
                  <a:lnTo>
                    <a:pt x="2419349" y="51617"/>
                  </a:lnTo>
                  <a:lnTo>
                    <a:pt x="2419350" y="55244"/>
                  </a:lnTo>
                  <a:lnTo>
                    <a:pt x="2419350" y="1211579"/>
                  </a:lnTo>
                  <a:lnTo>
                    <a:pt x="2419349" y="1215207"/>
                  </a:lnTo>
                  <a:lnTo>
                    <a:pt x="2418995" y="1218799"/>
                  </a:lnTo>
                  <a:lnTo>
                    <a:pt x="2418287" y="1222357"/>
                  </a:lnTo>
                  <a:lnTo>
                    <a:pt x="2417579" y="1225915"/>
                  </a:lnTo>
                  <a:lnTo>
                    <a:pt x="2394796" y="1257514"/>
                  </a:lnTo>
                  <a:lnTo>
                    <a:pt x="2391781" y="1259529"/>
                  </a:lnTo>
                  <a:lnTo>
                    <a:pt x="2388597" y="1261231"/>
                  </a:lnTo>
                  <a:lnTo>
                    <a:pt x="2385245" y="1262619"/>
                  </a:lnTo>
                  <a:lnTo>
                    <a:pt x="2381894" y="1264007"/>
                  </a:lnTo>
                  <a:lnTo>
                    <a:pt x="2378440" y="1265054"/>
                  </a:lnTo>
                  <a:lnTo>
                    <a:pt x="2374882" y="1265762"/>
                  </a:lnTo>
                  <a:lnTo>
                    <a:pt x="2371324" y="1266470"/>
                  </a:lnTo>
                  <a:lnTo>
                    <a:pt x="2367731" y="1266824"/>
                  </a:lnTo>
                  <a:lnTo>
                    <a:pt x="2364104" y="1266824"/>
                  </a:lnTo>
                  <a:lnTo>
                    <a:pt x="55245" y="1266824"/>
                  </a:lnTo>
                  <a:lnTo>
                    <a:pt x="51617" y="1266824"/>
                  </a:lnTo>
                  <a:lnTo>
                    <a:pt x="48024" y="1266470"/>
                  </a:lnTo>
                  <a:lnTo>
                    <a:pt x="44467" y="1265762"/>
                  </a:lnTo>
                  <a:lnTo>
                    <a:pt x="40909" y="1265054"/>
                  </a:lnTo>
                  <a:lnTo>
                    <a:pt x="16180" y="1250643"/>
                  </a:lnTo>
                  <a:lnTo>
                    <a:pt x="13615" y="1248078"/>
                  </a:lnTo>
                  <a:lnTo>
                    <a:pt x="4205" y="1232720"/>
                  </a:lnTo>
                  <a:lnTo>
                    <a:pt x="2816" y="1229369"/>
                  </a:lnTo>
                  <a:lnTo>
                    <a:pt x="1769" y="1225915"/>
                  </a:lnTo>
                  <a:lnTo>
                    <a:pt x="1061" y="1222357"/>
                  </a:lnTo>
                  <a:lnTo>
                    <a:pt x="354" y="1218799"/>
                  </a:lnTo>
                  <a:lnTo>
                    <a:pt x="0" y="1215207"/>
                  </a:lnTo>
                  <a:lnTo>
                    <a:pt x="0" y="1211579"/>
                  </a:lnTo>
                  <a:close/>
                </a:path>
              </a:pathLst>
            </a:custGeom>
            <a:ln w="9524">
              <a:solidFill>
                <a:srgbClr val="C4D1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569325" y="3186509"/>
            <a:ext cx="1054100" cy="75628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spc="-25" dirty="0">
                <a:solidFill>
                  <a:srgbClr val="2B3249"/>
                </a:solidFill>
                <a:latin typeface="Lucida Sans Unicode"/>
                <a:cs typeface="Lucida Sans Unicode"/>
              </a:rPr>
              <a:t>Outerwear</a:t>
            </a:r>
            <a:endParaRPr sz="16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Jacket</a:t>
            </a:r>
            <a:r>
              <a:rPr sz="1350" spc="-9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-125" dirty="0">
                <a:solidFill>
                  <a:srgbClr val="2B3249"/>
                </a:solidFill>
                <a:latin typeface="Trebuchet MS"/>
                <a:cs typeface="Trebuchet MS"/>
              </a:rPr>
              <a:t>·</a:t>
            </a:r>
            <a:r>
              <a:rPr sz="1350" spc="-7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2B3249"/>
                </a:solidFill>
                <a:latin typeface="Trebuchet MS"/>
                <a:cs typeface="Trebuchet MS"/>
              </a:rPr>
              <a:t>Coat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21" name="object 21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C4F040B-D3ED-B06F-C794-7198BC4642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5516798"/>
            <a:ext cx="4800600" cy="922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0074" y="666749"/>
            <a:ext cx="1762125" cy="323850"/>
          </a:xfrm>
          <a:custGeom>
            <a:avLst/>
            <a:gdLst/>
            <a:ahLst/>
            <a:cxnLst/>
            <a:rect l="l" t="t" r="r" b="b"/>
            <a:pathLst>
              <a:path w="1762125" h="323850">
                <a:moveTo>
                  <a:pt x="1720484" y="323849"/>
                </a:moveTo>
                <a:lnTo>
                  <a:pt x="41639" y="323849"/>
                </a:lnTo>
                <a:lnTo>
                  <a:pt x="35516" y="322631"/>
                </a:lnTo>
                <a:lnTo>
                  <a:pt x="1218" y="288333"/>
                </a:lnTo>
                <a:lnTo>
                  <a:pt x="0" y="282209"/>
                </a:lnTo>
                <a:lnTo>
                  <a:pt x="0" y="275843"/>
                </a:lnTo>
                <a:lnTo>
                  <a:pt x="0" y="41639"/>
                </a:lnTo>
                <a:lnTo>
                  <a:pt x="23753" y="6090"/>
                </a:lnTo>
                <a:lnTo>
                  <a:pt x="41639" y="0"/>
                </a:lnTo>
                <a:lnTo>
                  <a:pt x="1720484" y="0"/>
                </a:lnTo>
                <a:lnTo>
                  <a:pt x="1756034" y="23753"/>
                </a:lnTo>
                <a:lnTo>
                  <a:pt x="1762124" y="41639"/>
                </a:lnTo>
                <a:lnTo>
                  <a:pt x="1762124" y="282209"/>
                </a:lnTo>
                <a:lnTo>
                  <a:pt x="1738371" y="317759"/>
                </a:lnTo>
                <a:lnTo>
                  <a:pt x="1726608" y="322631"/>
                </a:lnTo>
                <a:lnTo>
                  <a:pt x="1720484" y="323849"/>
                </a:lnTo>
                <a:close/>
              </a:path>
            </a:pathLst>
          </a:custGeom>
          <a:solidFill>
            <a:srgbClr val="DEEC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90215" y="716915"/>
            <a:ext cx="158305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110" dirty="0">
                <a:solidFill>
                  <a:srgbClr val="2B3249"/>
                </a:solidFill>
                <a:latin typeface="Trebuchet MS"/>
                <a:cs typeface="Trebuchet MS"/>
              </a:rPr>
              <a:t>POWER</a:t>
            </a:r>
            <a:r>
              <a:rPr sz="1050" spc="-4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2B3249"/>
                </a:solidFill>
                <a:latin typeface="Trebuchet MS"/>
                <a:cs typeface="Trebuchet MS"/>
              </a:rPr>
              <a:t>BI</a:t>
            </a:r>
            <a:r>
              <a:rPr sz="1050" spc="-4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050" spc="100" dirty="0">
                <a:solidFill>
                  <a:srgbClr val="2B3249"/>
                </a:solidFill>
                <a:latin typeface="Trebuchet MS"/>
                <a:cs typeface="Trebuchet MS"/>
              </a:rPr>
              <a:t>DASHBOARD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25"/>
              </a:spcBef>
            </a:pPr>
            <a:r>
              <a:rPr spc="-145" dirty="0"/>
              <a:t>Subscription</a:t>
            </a:r>
            <a:r>
              <a:rPr spc="-215" dirty="0"/>
              <a:t> </a:t>
            </a:r>
            <a:r>
              <a:rPr spc="-50" dirty="0"/>
              <a:t>Status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385" y="2304040"/>
            <a:ext cx="3039197" cy="303892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895207" y="3530151"/>
            <a:ext cx="1301115" cy="203200"/>
          </a:xfrm>
          <a:custGeom>
            <a:avLst/>
            <a:gdLst/>
            <a:ahLst/>
            <a:cxnLst/>
            <a:rect l="l" t="t" r="r" b="b"/>
            <a:pathLst>
              <a:path w="1301114" h="203200">
                <a:moveTo>
                  <a:pt x="1199684" y="202613"/>
                </a:moveTo>
                <a:lnTo>
                  <a:pt x="101306" y="202613"/>
                </a:lnTo>
                <a:lnTo>
                  <a:pt x="91327" y="202131"/>
                </a:lnTo>
                <a:lnTo>
                  <a:pt x="53502" y="190637"/>
                </a:lnTo>
                <a:lnTo>
                  <a:pt x="22956" y="165543"/>
                </a:lnTo>
                <a:lnTo>
                  <a:pt x="4337" y="130670"/>
                </a:lnTo>
                <a:lnTo>
                  <a:pt x="0" y="101306"/>
                </a:lnTo>
                <a:lnTo>
                  <a:pt x="481" y="91326"/>
                </a:lnTo>
                <a:lnTo>
                  <a:pt x="11975" y="53502"/>
                </a:lnTo>
                <a:lnTo>
                  <a:pt x="37069" y="22956"/>
                </a:lnTo>
                <a:lnTo>
                  <a:pt x="71942" y="4337"/>
                </a:lnTo>
                <a:lnTo>
                  <a:pt x="101306" y="0"/>
                </a:lnTo>
                <a:lnTo>
                  <a:pt x="1199684" y="0"/>
                </a:lnTo>
                <a:lnTo>
                  <a:pt x="1238451" y="7711"/>
                </a:lnTo>
                <a:lnTo>
                  <a:pt x="1244707" y="10663"/>
                </a:lnTo>
                <a:lnTo>
                  <a:pt x="95354" y="10663"/>
                </a:lnTo>
                <a:lnTo>
                  <a:pt x="89460" y="11244"/>
                </a:lnTo>
                <a:lnTo>
                  <a:pt x="45999" y="29246"/>
                </a:lnTo>
                <a:lnTo>
                  <a:pt x="19841" y="61120"/>
                </a:lnTo>
                <a:lnTo>
                  <a:pt x="10663" y="95354"/>
                </a:lnTo>
                <a:lnTo>
                  <a:pt x="10663" y="107258"/>
                </a:lnTo>
                <a:lnTo>
                  <a:pt x="22633" y="146716"/>
                </a:lnTo>
                <a:lnTo>
                  <a:pt x="55896" y="179979"/>
                </a:lnTo>
                <a:lnTo>
                  <a:pt x="95354" y="191949"/>
                </a:lnTo>
                <a:lnTo>
                  <a:pt x="1244707" y="191949"/>
                </a:lnTo>
                <a:lnTo>
                  <a:pt x="1238451" y="194901"/>
                </a:lnTo>
                <a:lnTo>
                  <a:pt x="1229047" y="198275"/>
                </a:lnTo>
                <a:lnTo>
                  <a:pt x="1219451" y="200685"/>
                </a:lnTo>
                <a:lnTo>
                  <a:pt x="1209663" y="202131"/>
                </a:lnTo>
                <a:lnTo>
                  <a:pt x="1199684" y="202613"/>
                </a:lnTo>
                <a:close/>
              </a:path>
              <a:path w="1301114" h="203200">
                <a:moveTo>
                  <a:pt x="1244707" y="191949"/>
                </a:moveTo>
                <a:lnTo>
                  <a:pt x="1205635" y="191949"/>
                </a:lnTo>
                <a:lnTo>
                  <a:pt x="1211530" y="191368"/>
                </a:lnTo>
                <a:lnTo>
                  <a:pt x="1223204" y="189046"/>
                </a:lnTo>
                <a:lnTo>
                  <a:pt x="1259569" y="169609"/>
                </a:lnTo>
                <a:lnTo>
                  <a:pt x="1285632" y="130670"/>
                </a:lnTo>
                <a:lnTo>
                  <a:pt x="1285704" y="130495"/>
                </a:lnTo>
                <a:lnTo>
                  <a:pt x="1287423" y="124827"/>
                </a:lnTo>
                <a:lnTo>
                  <a:pt x="1289746" y="113152"/>
                </a:lnTo>
                <a:lnTo>
                  <a:pt x="1290326" y="107258"/>
                </a:lnTo>
                <a:lnTo>
                  <a:pt x="1290326" y="95354"/>
                </a:lnTo>
                <a:lnTo>
                  <a:pt x="1278357" y="55896"/>
                </a:lnTo>
                <a:lnTo>
                  <a:pt x="1245093" y="22633"/>
                </a:lnTo>
                <a:lnTo>
                  <a:pt x="1205635" y="10663"/>
                </a:lnTo>
                <a:lnTo>
                  <a:pt x="1244707" y="10663"/>
                </a:lnTo>
                <a:lnTo>
                  <a:pt x="1278034" y="37069"/>
                </a:lnTo>
                <a:lnTo>
                  <a:pt x="1296652" y="71942"/>
                </a:lnTo>
                <a:lnTo>
                  <a:pt x="1300990" y="101306"/>
                </a:lnTo>
                <a:lnTo>
                  <a:pt x="1300508" y="111286"/>
                </a:lnTo>
                <a:lnTo>
                  <a:pt x="1299062" y="121074"/>
                </a:lnTo>
                <a:lnTo>
                  <a:pt x="1296696" y="130495"/>
                </a:lnTo>
                <a:lnTo>
                  <a:pt x="1296652" y="130670"/>
                </a:lnTo>
                <a:lnTo>
                  <a:pt x="1278034" y="165543"/>
                </a:lnTo>
                <a:lnTo>
                  <a:pt x="1247487" y="190637"/>
                </a:lnTo>
                <a:lnTo>
                  <a:pt x="1244707" y="191949"/>
                </a:lnTo>
                <a:close/>
              </a:path>
            </a:pathLst>
          </a:custGeom>
          <a:solidFill>
            <a:srgbClr val="1C2029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95207" y="3818075"/>
            <a:ext cx="1525270" cy="213360"/>
          </a:xfrm>
          <a:custGeom>
            <a:avLst/>
            <a:gdLst/>
            <a:ahLst/>
            <a:cxnLst/>
            <a:rect l="l" t="t" r="r" b="b"/>
            <a:pathLst>
              <a:path w="1525270" h="213360">
                <a:moveTo>
                  <a:pt x="1418293" y="213277"/>
                </a:moveTo>
                <a:lnTo>
                  <a:pt x="106638" y="213277"/>
                </a:lnTo>
                <a:lnTo>
                  <a:pt x="96133" y="212769"/>
                </a:lnTo>
                <a:lnTo>
                  <a:pt x="56318" y="200670"/>
                </a:lnTo>
                <a:lnTo>
                  <a:pt x="24164" y="174256"/>
                </a:lnTo>
                <a:lnTo>
                  <a:pt x="4564" y="137544"/>
                </a:lnTo>
                <a:lnTo>
                  <a:pt x="0" y="106638"/>
                </a:lnTo>
                <a:lnTo>
                  <a:pt x="507" y="96133"/>
                </a:lnTo>
                <a:lnTo>
                  <a:pt x="12605" y="56318"/>
                </a:lnTo>
                <a:lnTo>
                  <a:pt x="39020" y="24164"/>
                </a:lnTo>
                <a:lnTo>
                  <a:pt x="75728" y="4565"/>
                </a:lnTo>
                <a:lnTo>
                  <a:pt x="106638" y="0"/>
                </a:lnTo>
                <a:lnTo>
                  <a:pt x="1418293" y="0"/>
                </a:lnTo>
                <a:lnTo>
                  <a:pt x="1459101" y="8117"/>
                </a:lnTo>
                <a:lnTo>
                  <a:pt x="1464497" y="10663"/>
                </a:lnTo>
                <a:lnTo>
                  <a:pt x="100336" y="10663"/>
                </a:lnTo>
                <a:lnTo>
                  <a:pt x="94095" y="11278"/>
                </a:lnTo>
                <a:lnTo>
                  <a:pt x="48077" y="30339"/>
                </a:lnTo>
                <a:lnTo>
                  <a:pt x="20381" y="64088"/>
                </a:lnTo>
                <a:lnTo>
                  <a:pt x="10663" y="100336"/>
                </a:lnTo>
                <a:lnTo>
                  <a:pt x="10663" y="112940"/>
                </a:lnTo>
                <a:lnTo>
                  <a:pt x="23337" y="154719"/>
                </a:lnTo>
                <a:lnTo>
                  <a:pt x="58557" y="189939"/>
                </a:lnTo>
                <a:lnTo>
                  <a:pt x="100336" y="202613"/>
                </a:lnTo>
                <a:lnTo>
                  <a:pt x="1464497" y="202613"/>
                </a:lnTo>
                <a:lnTo>
                  <a:pt x="1459101" y="205159"/>
                </a:lnTo>
                <a:lnTo>
                  <a:pt x="1449202" y="208710"/>
                </a:lnTo>
                <a:lnTo>
                  <a:pt x="1439101" y="211247"/>
                </a:lnTo>
                <a:lnTo>
                  <a:pt x="1428798" y="212769"/>
                </a:lnTo>
                <a:lnTo>
                  <a:pt x="1418293" y="213277"/>
                </a:lnTo>
                <a:close/>
              </a:path>
              <a:path w="1525270" h="213360">
                <a:moveTo>
                  <a:pt x="1464497" y="202613"/>
                </a:moveTo>
                <a:lnTo>
                  <a:pt x="1424594" y="202613"/>
                </a:lnTo>
                <a:lnTo>
                  <a:pt x="1430836" y="201998"/>
                </a:lnTo>
                <a:lnTo>
                  <a:pt x="1443198" y="199539"/>
                </a:lnTo>
                <a:lnTo>
                  <a:pt x="1481701" y="178958"/>
                </a:lnTo>
                <a:lnTo>
                  <a:pt x="1509373" y="137544"/>
                </a:lnTo>
                <a:lnTo>
                  <a:pt x="1514267" y="112940"/>
                </a:lnTo>
                <a:lnTo>
                  <a:pt x="1514267" y="100336"/>
                </a:lnTo>
                <a:lnTo>
                  <a:pt x="1501593" y="58557"/>
                </a:lnTo>
                <a:lnTo>
                  <a:pt x="1466373" y="23337"/>
                </a:lnTo>
                <a:lnTo>
                  <a:pt x="1424594" y="10663"/>
                </a:lnTo>
                <a:lnTo>
                  <a:pt x="1464497" y="10663"/>
                </a:lnTo>
                <a:lnTo>
                  <a:pt x="1500767" y="39020"/>
                </a:lnTo>
                <a:lnTo>
                  <a:pt x="1520365" y="75728"/>
                </a:lnTo>
                <a:lnTo>
                  <a:pt x="1524931" y="106638"/>
                </a:lnTo>
                <a:lnTo>
                  <a:pt x="1524424" y="117143"/>
                </a:lnTo>
                <a:lnTo>
                  <a:pt x="1512325" y="156958"/>
                </a:lnTo>
                <a:lnTo>
                  <a:pt x="1485910" y="189112"/>
                </a:lnTo>
                <a:lnTo>
                  <a:pt x="1468612" y="200670"/>
                </a:lnTo>
                <a:lnTo>
                  <a:pt x="1464497" y="202613"/>
                </a:lnTo>
                <a:close/>
              </a:path>
            </a:pathLst>
          </a:custGeom>
          <a:solidFill>
            <a:srgbClr val="1C2029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04115" y="3540911"/>
            <a:ext cx="1257300" cy="452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55" dirty="0">
                <a:solidFill>
                  <a:srgbClr val="2B3249"/>
                </a:solidFill>
                <a:latin typeface="Tahoma"/>
                <a:cs typeface="Tahoma"/>
              </a:rPr>
              <a:t>Subscribed</a:t>
            </a:r>
            <a:r>
              <a:rPr sz="900" spc="70" dirty="0">
                <a:solidFill>
                  <a:srgbClr val="2B3249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B3249"/>
                </a:solidFill>
                <a:latin typeface="Tahoma"/>
                <a:cs typeface="Tahoma"/>
              </a:rPr>
              <a:t>·</a:t>
            </a:r>
            <a:r>
              <a:rPr sz="900" spc="75" dirty="0">
                <a:solidFill>
                  <a:srgbClr val="2B3249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B3249"/>
                </a:solidFill>
                <a:latin typeface="Tahoma"/>
                <a:cs typeface="Tahoma"/>
              </a:rPr>
              <a:t>27%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2B3249"/>
                </a:solidFill>
                <a:latin typeface="Tahoma"/>
                <a:cs typeface="Tahoma"/>
              </a:rPr>
              <a:t>Not</a:t>
            </a:r>
            <a:r>
              <a:rPr sz="900" spc="-10" dirty="0">
                <a:solidFill>
                  <a:srgbClr val="2B3249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2B3249"/>
                </a:solidFill>
                <a:latin typeface="Tahoma"/>
                <a:cs typeface="Tahoma"/>
              </a:rPr>
              <a:t>Subscribed</a:t>
            </a:r>
            <a:r>
              <a:rPr sz="900" spc="125" dirty="0">
                <a:solidFill>
                  <a:srgbClr val="2B3249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B3249"/>
                </a:solidFill>
                <a:latin typeface="Tahoma"/>
                <a:cs typeface="Tahoma"/>
              </a:rPr>
              <a:t>·</a:t>
            </a:r>
            <a:r>
              <a:rPr sz="900" spc="130" dirty="0">
                <a:solidFill>
                  <a:srgbClr val="2B3249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B3249"/>
                </a:solidFill>
                <a:latin typeface="Tahoma"/>
                <a:cs typeface="Tahoma"/>
              </a:rPr>
              <a:t>73%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3822" y="3586901"/>
            <a:ext cx="86409" cy="8640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3822" y="3885489"/>
            <a:ext cx="86409" cy="8640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396146" y="2602572"/>
            <a:ext cx="233679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spc="75" dirty="0">
                <a:latin typeface="Trebuchet MS"/>
                <a:cs typeface="Trebuchet MS"/>
              </a:rPr>
              <a:t>27%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9151" y="4830571"/>
            <a:ext cx="233679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spc="75" dirty="0">
                <a:latin typeface="Trebuchet MS"/>
                <a:cs typeface="Trebuchet MS"/>
              </a:rPr>
              <a:t>73%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20928" y="2011362"/>
            <a:ext cx="1672589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70" dirty="0">
                <a:solidFill>
                  <a:srgbClr val="262D45"/>
                </a:solidFill>
                <a:latin typeface="Lucida Sans Unicode"/>
                <a:cs typeface="Lucida Sans Unicode"/>
              </a:rPr>
              <a:t>Subscriber</a:t>
            </a:r>
            <a:r>
              <a:rPr sz="1650" spc="-50" dirty="0">
                <a:solidFill>
                  <a:srgbClr val="262D45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262D45"/>
                </a:solidFill>
                <a:latin typeface="Lucida Sans Unicode"/>
                <a:cs typeface="Lucida Sans Unicode"/>
              </a:rPr>
              <a:t>Spend</a:t>
            </a:r>
            <a:endParaRPr sz="1650">
              <a:latin typeface="Lucida Sans Unicode"/>
              <a:cs typeface="Lucida Sans Unicode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43598" y="2533649"/>
            <a:ext cx="66675" cy="6667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195069" y="2454275"/>
            <a:ext cx="4318000" cy="564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50" dirty="0">
                <a:solidFill>
                  <a:srgbClr val="2B3249"/>
                </a:solidFill>
                <a:latin typeface="Trebuchet MS"/>
                <a:cs typeface="Trebuchet MS"/>
              </a:rPr>
              <a:t>Subscribers:</a:t>
            </a:r>
            <a:r>
              <a:rPr sz="1350" b="1" spc="-7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1,053</a:t>
            </a:r>
            <a:r>
              <a:rPr sz="1350" spc="-7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45" dirty="0">
                <a:solidFill>
                  <a:srgbClr val="2B3249"/>
                </a:solidFill>
                <a:latin typeface="Trebuchet MS"/>
                <a:cs typeface="Trebuchet MS"/>
              </a:rPr>
              <a:t>customers,</a:t>
            </a:r>
            <a:r>
              <a:rPr sz="1350" spc="-7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$59.49</a:t>
            </a:r>
            <a:r>
              <a:rPr sz="1350" spc="-7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2B3249"/>
                </a:solidFill>
                <a:latin typeface="Trebuchet MS"/>
                <a:cs typeface="Trebuchet MS"/>
              </a:rPr>
              <a:t>avg</a:t>
            </a:r>
            <a:r>
              <a:rPr sz="1350" spc="-7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2B3249"/>
                </a:solidFill>
                <a:latin typeface="Trebuchet MS"/>
                <a:cs typeface="Trebuchet MS"/>
              </a:rPr>
              <a:t>spend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350" b="1" spc="55" dirty="0">
                <a:solidFill>
                  <a:srgbClr val="2B3249"/>
                </a:solidFill>
                <a:latin typeface="Trebuchet MS"/>
                <a:cs typeface="Trebuchet MS"/>
              </a:rPr>
              <a:t>Non-</a:t>
            </a:r>
            <a:r>
              <a:rPr sz="1350" b="1" spc="45" dirty="0">
                <a:solidFill>
                  <a:srgbClr val="2B3249"/>
                </a:solidFill>
                <a:latin typeface="Trebuchet MS"/>
                <a:cs typeface="Trebuchet MS"/>
              </a:rPr>
              <a:t>subscribers:</a:t>
            </a:r>
            <a:r>
              <a:rPr sz="1350" b="1" spc="-5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2B3249"/>
                </a:solidFill>
                <a:latin typeface="Trebuchet MS"/>
                <a:cs typeface="Trebuchet MS"/>
              </a:rPr>
              <a:t>2,847</a:t>
            </a:r>
            <a:r>
              <a:rPr sz="1350" spc="-5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45" dirty="0">
                <a:solidFill>
                  <a:srgbClr val="2B3249"/>
                </a:solidFill>
                <a:latin typeface="Trebuchet MS"/>
                <a:cs typeface="Trebuchet MS"/>
              </a:rPr>
              <a:t>customers,</a:t>
            </a:r>
            <a:r>
              <a:rPr sz="1350" spc="-5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$59.87</a:t>
            </a:r>
            <a:r>
              <a:rPr sz="1350" spc="-5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2B3249"/>
                </a:solidFill>
                <a:latin typeface="Trebuchet MS"/>
                <a:cs typeface="Trebuchet MS"/>
              </a:rPr>
              <a:t>avg</a:t>
            </a:r>
            <a:r>
              <a:rPr sz="1350" spc="-5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2B3249"/>
                </a:solidFill>
                <a:latin typeface="Trebuchet MS"/>
                <a:cs typeface="Trebuchet MS"/>
              </a:rPr>
              <a:t>spend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43598" y="2867024"/>
            <a:ext cx="66675" cy="6667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920928" y="3216274"/>
            <a:ext cx="480695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60" dirty="0">
                <a:solidFill>
                  <a:srgbClr val="2B3249"/>
                </a:solidFill>
                <a:latin typeface="Trebuchet MS"/>
                <a:cs typeface="Trebuchet MS"/>
              </a:rPr>
              <a:t>Subscription</a:t>
            </a:r>
            <a:r>
              <a:rPr sz="1350" spc="4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drives</a:t>
            </a:r>
            <a:r>
              <a:rPr sz="1350" spc="4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loyalty,</a:t>
            </a:r>
            <a:r>
              <a:rPr sz="1350" spc="4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70" dirty="0">
                <a:solidFill>
                  <a:srgbClr val="2B3249"/>
                </a:solidFill>
                <a:latin typeface="Trebuchet MS"/>
                <a:cs typeface="Trebuchet MS"/>
              </a:rPr>
              <a:t>not</a:t>
            </a:r>
            <a:r>
              <a:rPr sz="1350" spc="5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higher</a:t>
            </a:r>
            <a:r>
              <a:rPr sz="1350" spc="4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2B3249"/>
                </a:solidFill>
                <a:latin typeface="Trebuchet MS"/>
                <a:cs typeface="Trebuchet MS"/>
              </a:rPr>
              <a:t>per-</a:t>
            </a:r>
            <a:r>
              <a:rPr sz="1350" spc="50" dirty="0">
                <a:solidFill>
                  <a:srgbClr val="2B3249"/>
                </a:solidFill>
                <a:latin typeface="Trebuchet MS"/>
                <a:cs typeface="Trebuchet MS"/>
              </a:rPr>
              <a:t>purchase</a:t>
            </a:r>
            <a:r>
              <a:rPr sz="1350" spc="4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2B3249"/>
                </a:solidFill>
                <a:latin typeface="Trebuchet MS"/>
                <a:cs typeface="Trebuchet MS"/>
              </a:rPr>
              <a:t>spend.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18" name="object 18">
            <a:hlinkClick r:id="rId6"/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FD308E9-BC27-7A5D-A23F-50EB7E5E28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5516798"/>
            <a:ext cx="4800600" cy="922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0074" y="1238249"/>
            <a:ext cx="1619250" cy="323850"/>
          </a:xfrm>
          <a:custGeom>
            <a:avLst/>
            <a:gdLst/>
            <a:ahLst/>
            <a:cxnLst/>
            <a:rect l="l" t="t" r="r" b="b"/>
            <a:pathLst>
              <a:path w="1619250" h="323850">
                <a:moveTo>
                  <a:pt x="1577609" y="323849"/>
                </a:moveTo>
                <a:lnTo>
                  <a:pt x="41639" y="323849"/>
                </a:lnTo>
                <a:lnTo>
                  <a:pt x="35516" y="322631"/>
                </a:lnTo>
                <a:lnTo>
                  <a:pt x="1218" y="288333"/>
                </a:lnTo>
                <a:lnTo>
                  <a:pt x="0" y="282209"/>
                </a:lnTo>
                <a:lnTo>
                  <a:pt x="0" y="275844"/>
                </a:lnTo>
                <a:lnTo>
                  <a:pt x="0" y="41639"/>
                </a:lnTo>
                <a:lnTo>
                  <a:pt x="23753" y="6090"/>
                </a:lnTo>
                <a:lnTo>
                  <a:pt x="41639" y="0"/>
                </a:lnTo>
                <a:lnTo>
                  <a:pt x="1577609" y="0"/>
                </a:lnTo>
                <a:lnTo>
                  <a:pt x="1613159" y="23753"/>
                </a:lnTo>
                <a:lnTo>
                  <a:pt x="1619249" y="41639"/>
                </a:lnTo>
                <a:lnTo>
                  <a:pt x="1619249" y="282209"/>
                </a:lnTo>
                <a:lnTo>
                  <a:pt x="1595496" y="317759"/>
                </a:lnTo>
                <a:lnTo>
                  <a:pt x="1583733" y="322631"/>
                </a:lnTo>
                <a:lnTo>
                  <a:pt x="1577609" y="323849"/>
                </a:lnTo>
                <a:close/>
              </a:path>
            </a:pathLst>
          </a:custGeom>
          <a:solidFill>
            <a:srgbClr val="DEEC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90215" y="1288414"/>
            <a:ext cx="143891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100" dirty="0">
                <a:solidFill>
                  <a:srgbClr val="2B3249"/>
                </a:solidFill>
                <a:latin typeface="Trebuchet MS"/>
                <a:cs typeface="Trebuchet MS"/>
              </a:rPr>
              <a:t>RECOMMENDATIONS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87374" y="1606550"/>
            <a:ext cx="320167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40" dirty="0"/>
              <a:t>Strategic</a:t>
            </a:r>
            <a:r>
              <a:rPr spc="-204" dirty="0"/>
              <a:t> </a:t>
            </a:r>
            <a:r>
              <a:rPr spc="-120" dirty="0"/>
              <a:t>Actions</a:t>
            </a:r>
          </a:p>
        </p:txBody>
      </p:sp>
      <p:sp>
        <p:nvSpPr>
          <p:cNvPr id="5" name="object 5"/>
          <p:cNvSpPr/>
          <p:nvPr/>
        </p:nvSpPr>
        <p:spPr>
          <a:xfrm>
            <a:off x="609599" y="2438399"/>
            <a:ext cx="3276600" cy="1276350"/>
          </a:xfrm>
          <a:custGeom>
            <a:avLst/>
            <a:gdLst/>
            <a:ahLst/>
            <a:cxnLst/>
            <a:rect l="l" t="t" r="r" b="b"/>
            <a:pathLst>
              <a:path w="3276600" h="1276350">
                <a:moveTo>
                  <a:pt x="0" y="1209674"/>
                </a:moveTo>
                <a:lnTo>
                  <a:pt x="0" y="66674"/>
                </a:lnTo>
                <a:lnTo>
                  <a:pt x="0" y="62297"/>
                </a:lnTo>
                <a:lnTo>
                  <a:pt x="427" y="57960"/>
                </a:lnTo>
                <a:lnTo>
                  <a:pt x="1281" y="53667"/>
                </a:lnTo>
                <a:lnTo>
                  <a:pt x="2135" y="49373"/>
                </a:lnTo>
                <a:lnTo>
                  <a:pt x="3399" y="45203"/>
                </a:lnTo>
                <a:lnTo>
                  <a:pt x="5075" y="41159"/>
                </a:lnTo>
                <a:lnTo>
                  <a:pt x="6750" y="37114"/>
                </a:lnTo>
                <a:lnTo>
                  <a:pt x="8804" y="33272"/>
                </a:lnTo>
                <a:lnTo>
                  <a:pt x="11236" y="29631"/>
                </a:lnTo>
                <a:lnTo>
                  <a:pt x="13668" y="25991"/>
                </a:lnTo>
                <a:lnTo>
                  <a:pt x="16432" y="22623"/>
                </a:lnTo>
                <a:lnTo>
                  <a:pt x="19528" y="19528"/>
                </a:lnTo>
                <a:lnTo>
                  <a:pt x="22624" y="16432"/>
                </a:lnTo>
                <a:lnTo>
                  <a:pt x="25992" y="13668"/>
                </a:lnTo>
                <a:lnTo>
                  <a:pt x="29632" y="11236"/>
                </a:lnTo>
                <a:lnTo>
                  <a:pt x="33272" y="8804"/>
                </a:lnTo>
                <a:lnTo>
                  <a:pt x="62297" y="0"/>
                </a:lnTo>
                <a:lnTo>
                  <a:pt x="66675" y="0"/>
                </a:lnTo>
                <a:lnTo>
                  <a:pt x="3226117" y="0"/>
                </a:lnTo>
                <a:lnTo>
                  <a:pt x="3229431" y="0"/>
                </a:lnTo>
                <a:lnTo>
                  <a:pt x="3232714" y="323"/>
                </a:lnTo>
                <a:lnTo>
                  <a:pt x="3235965" y="970"/>
                </a:lnTo>
                <a:lnTo>
                  <a:pt x="3239216" y="1616"/>
                </a:lnTo>
                <a:lnTo>
                  <a:pt x="3242373" y="2573"/>
                </a:lnTo>
                <a:lnTo>
                  <a:pt x="3245435" y="3842"/>
                </a:lnTo>
                <a:lnTo>
                  <a:pt x="3248498" y="5111"/>
                </a:lnTo>
                <a:lnTo>
                  <a:pt x="3251407" y="6666"/>
                </a:lnTo>
                <a:lnTo>
                  <a:pt x="3254163" y="8507"/>
                </a:lnTo>
                <a:lnTo>
                  <a:pt x="3256919" y="10349"/>
                </a:lnTo>
                <a:lnTo>
                  <a:pt x="3259470" y="12441"/>
                </a:lnTo>
                <a:lnTo>
                  <a:pt x="3261813" y="14785"/>
                </a:lnTo>
                <a:lnTo>
                  <a:pt x="3264157" y="17129"/>
                </a:lnTo>
                <a:lnTo>
                  <a:pt x="3272756" y="31163"/>
                </a:lnTo>
                <a:lnTo>
                  <a:pt x="3274025" y="34225"/>
                </a:lnTo>
                <a:lnTo>
                  <a:pt x="3274982" y="37382"/>
                </a:lnTo>
                <a:lnTo>
                  <a:pt x="3275629" y="40633"/>
                </a:lnTo>
                <a:lnTo>
                  <a:pt x="3276276" y="43884"/>
                </a:lnTo>
                <a:lnTo>
                  <a:pt x="3276599" y="47167"/>
                </a:lnTo>
                <a:lnTo>
                  <a:pt x="3276599" y="50482"/>
                </a:lnTo>
                <a:lnTo>
                  <a:pt x="3276599" y="1225867"/>
                </a:lnTo>
                <a:lnTo>
                  <a:pt x="3276599" y="1229182"/>
                </a:lnTo>
                <a:lnTo>
                  <a:pt x="3276276" y="1232464"/>
                </a:lnTo>
                <a:lnTo>
                  <a:pt x="3275629" y="1235715"/>
                </a:lnTo>
                <a:lnTo>
                  <a:pt x="3274983" y="1238966"/>
                </a:lnTo>
                <a:lnTo>
                  <a:pt x="3254163" y="1267841"/>
                </a:lnTo>
                <a:lnTo>
                  <a:pt x="3251407" y="1269683"/>
                </a:lnTo>
                <a:lnTo>
                  <a:pt x="3248498" y="1271238"/>
                </a:lnTo>
                <a:lnTo>
                  <a:pt x="3245435" y="1272506"/>
                </a:lnTo>
                <a:lnTo>
                  <a:pt x="3242373" y="1273775"/>
                </a:lnTo>
                <a:lnTo>
                  <a:pt x="3226117" y="1276349"/>
                </a:lnTo>
                <a:lnTo>
                  <a:pt x="66675" y="1276349"/>
                </a:lnTo>
                <a:lnTo>
                  <a:pt x="29632" y="1265112"/>
                </a:lnTo>
                <a:lnTo>
                  <a:pt x="5075" y="1235189"/>
                </a:lnTo>
                <a:lnTo>
                  <a:pt x="1281" y="1222681"/>
                </a:lnTo>
                <a:lnTo>
                  <a:pt x="427" y="1218388"/>
                </a:lnTo>
                <a:lnTo>
                  <a:pt x="0" y="1214052"/>
                </a:lnTo>
                <a:lnTo>
                  <a:pt x="0" y="1209674"/>
                </a:lnTo>
                <a:close/>
              </a:path>
            </a:pathLst>
          </a:custGeom>
          <a:ln w="19049">
            <a:solidFill>
              <a:srgbClr val="C4D1C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54075" y="2453084"/>
            <a:ext cx="2423160" cy="102298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ct val="138700"/>
              </a:lnSpc>
              <a:spcBef>
                <a:spcPts val="540"/>
              </a:spcBef>
            </a:pPr>
            <a:r>
              <a:rPr sz="1650" spc="-30" dirty="0">
                <a:solidFill>
                  <a:srgbClr val="2B3249"/>
                </a:solidFill>
                <a:latin typeface="Lucida Sans Unicode"/>
                <a:cs typeface="Lucida Sans Unicode"/>
              </a:rPr>
              <a:t>Boost</a:t>
            </a:r>
            <a:r>
              <a:rPr sz="1650" spc="-110" dirty="0">
                <a:solidFill>
                  <a:srgbClr val="2B3249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B3249"/>
                </a:solidFill>
                <a:latin typeface="Lucida Sans Unicode"/>
                <a:cs typeface="Lucida Sans Unicode"/>
              </a:rPr>
              <a:t>Subscriptions </a:t>
            </a:r>
            <a:r>
              <a:rPr sz="1350" spc="60" dirty="0">
                <a:solidFill>
                  <a:srgbClr val="2B3249"/>
                </a:solidFill>
                <a:latin typeface="Trebuchet MS"/>
                <a:cs typeface="Trebuchet MS"/>
              </a:rPr>
              <a:t>Promote</a:t>
            </a:r>
            <a:r>
              <a:rPr sz="1350" spc="6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10" dirty="0">
                <a:solidFill>
                  <a:srgbClr val="2B3249"/>
                </a:solidFill>
                <a:latin typeface="Trebuchet MS"/>
                <a:cs typeface="Trebuchet MS"/>
              </a:rPr>
              <a:t>exclusive</a:t>
            </a:r>
            <a:r>
              <a:rPr sz="1350" spc="6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2B3249"/>
                </a:solidFill>
                <a:latin typeface="Trebuchet MS"/>
                <a:cs typeface="Trebuchet MS"/>
              </a:rPr>
              <a:t>subscriber benefits.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76699" y="2438399"/>
            <a:ext cx="3276600" cy="1276350"/>
          </a:xfrm>
          <a:custGeom>
            <a:avLst/>
            <a:gdLst/>
            <a:ahLst/>
            <a:cxnLst/>
            <a:rect l="l" t="t" r="r" b="b"/>
            <a:pathLst>
              <a:path w="3276600" h="1276350">
                <a:moveTo>
                  <a:pt x="0" y="1209674"/>
                </a:moveTo>
                <a:lnTo>
                  <a:pt x="0" y="66674"/>
                </a:lnTo>
                <a:lnTo>
                  <a:pt x="0" y="62297"/>
                </a:lnTo>
                <a:lnTo>
                  <a:pt x="427" y="57960"/>
                </a:lnTo>
                <a:lnTo>
                  <a:pt x="1281" y="53667"/>
                </a:lnTo>
                <a:lnTo>
                  <a:pt x="2135" y="49373"/>
                </a:lnTo>
                <a:lnTo>
                  <a:pt x="3399" y="45203"/>
                </a:lnTo>
                <a:lnTo>
                  <a:pt x="5075" y="41159"/>
                </a:lnTo>
                <a:lnTo>
                  <a:pt x="6750" y="37114"/>
                </a:lnTo>
                <a:lnTo>
                  <a:pt x="8804" y="33272"/>
                </a:lnTo>
                <a:lnTo>
                  <a:pt x="11236" y="29631"/>
                </a:lnTo>
                <a:lnTo>
                  <a:pt x="13668" y="25991"/>
                </a:lnTo>
                <a:lnTo>
                  <a:pt x="16433" y="22623"/>
                </a:lnTo>
                <a:lnTo>
                  <a:pt x="19528" y="19528"/>
                </a:lnTo>
                <a:lnTo>
                  <a:pt x="22624" y="16432"/>
                </a:lnTo>
                <a:lnTo>
                  <a:pt x="25992" y="13668"/>
                </a:lnTo>
                <a:lnTo>
                  <a:pt x="29632" y="11236"/>
                </a:lnTo>
                <a:lnTo>
                  <a:pt x="33272" y="8804"/>
                </a:lnTo>
                <a:lnTo>
                  <a:pt x="53667" y="1281"/>
                </a:lnTo>
                <a:lnTo>
                  <a:pt x="57961" y="427"/>
                </a:lnTo>
                <a:lnTo>
                  <a:pt x="62297" y="0"/>
                </a:lnTo>
                <a:lnTo>
                  <a:pt x="66675" y="0"/>
                </a:lnTo>
                <a:lnTo>
                  <a:pt x="3226117" y="0"/>
                </a:lnTo>
                <a:lnTo>
                  <a:pt x="3229431" y="0"/>
                </a:lnTo>
                <a:lnTo>
                  <a:pt x="3232714" y="323"/>
                </a:lnTo>
                <a:lnTo>
                  <a:pt x="3235965" y="970"/>
                </a:lnTo>
                <a:lnTo>
                  <a:pt x="3239216" y="1616"/>
                </a:lnTo>
                <a:lnTo>
                  <a:pt x="3242373" y="2573"/>
                </a:lnTo>
                <a:lnTo>
                  <a:pt x="3245435" y="3842"/>
                </a:lnTo>
                <a:lnTo>
                  <a:pt x="3248497" y="5111"/>
                </a:lnTo>
                <a:lnTo>
                  <a:pt x="3268091" y="22435"/>
                </a:lnTo>
                <a:lnTo>
                  <a:pt x="3269933" y="25191"/>
                </a:lnTo>
                <a:lnTo>
                  <a:pt x="3271488" y="28100"/>
                </a:lnTo>
                <a:lnTo>
                  <a:pt x="3272756" y="31163"/>
                </a:lnTo>
                <a:lnTo>
                  <a:pt x="3274025" y="34225"/>
                </a:lnTo>
                <a:lnTo>
                  <a:pt x="3274982" y="37382"/>
                </a:lnTo>
                <a:lnTo>
                  <a:pt x="3275629" y="40633"/>
                </a:lnTo>
                <a:lnTo>
                  <a:pt x="3276276" y="43884"/>
                </a:lnTo>
                <a:lnTo>
                  <a:pt x="3276600" y="47167"/>
                </a:lnTo>
                <a:lnTo>
                  <a:pt x="3276600" y="50482"/>
                </a:lnTo>
                <a:lnTo>
                  <a:pt x="3276600" y="1225867"/>
                </a:lnTo>
                <a:lnTo>
                  <a:pt x="3276600" y="1229182"/>
                </a:lnTo>
                <a:lnTo>
                  <a:pt x="3276276" y="1232464"/>
                </a:lnTo>
                <a:lnTo>
                  <a:pt x="3268091" y="1253913"/>
                </a:lnTo>
                <a:lnTo>
                  <a:pt x="3266250" y="1256669"/>
                </a:lnTo>
                <a:lnTo>
                  <a:pt x="3254162" y="1267841"/>
                </a:lnTo>
                <a:lnTo>
                  <a:pt x="3251406" y="1269683"/>
                </a:lnTo>
                <a:lnTo>
                  <a:pt x="3248497" y="1271238"/>
                </a:lnTo>
                <a:lnTo>
                  <a:pt x="3245435" y="1272506"/>
                </a:lnTo>
                <a:lnTo>
                  <a:pt x="3242373" y="1273775"/>
                </a:lnTo>
                <a:lnTo>
                  <a:pt x="3239216" y="1274732"/>
                </a:lnTo>
                <a:lnTo>
                  <a:pt x="3235965" y="1275379"/>
                </a:lnTo>
                <a:lnTo>
                  <a:pt x="3232714" y="1276026"/>
                </a:lnTo>
                <a:lnTo>
                  <a:pt x="3229431" y="1276349"/>
                </a:lnTo>
                <a:lnTo>
                  <a:pt x="3226117" y="1276349"/>
                </a:lnTo>
                <a:lnTo>
                  <a:pt x="66675" y="1276349"/>
                </a:lnTo>
                <a:lnTo>
                  <a:pt x="62297" y="1276349"/>
                </a:lnTo>
                <a:lnTo>
                  <a:pt x="57961" y="1275922"/>
                </a:lnTo>
                <a:lnTo>
                  <a:pt x="53667" y="1275068"/>
                </a:lnTo>
                <a:lnTo>
                  <a:pt x="49373" y="1274214"/>
                </a:lnTo>
                <a:lnTo>
                  <a:pt x="16433" y="1253724"/>
                </a:lnTo>
                <a:lnTo>
                  <a:pt x="427" y="1218388"/>
                </a:lnTo>
                <a:lnTo>
                  <a:pt x="0" y="1214052"/>
                </a:lnTo>
                <a:lnTo>
                  <a:pt x="0" y="1209674"/>
                </a:lnTo>
                <a:close/>
              </a:path>
            </a:pathLst>
          </a:custGeom>
          <a:ln w="19049">
            <a:solidFill>
              <a:srgbClr val="C4D1C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21175" y="2453084"/>
            <a:ext cx="2480310" cy="102298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spc="-40" dirty="0">
                <a:solidFill>
                  <a:srgbClr val="2B3249"/>
                </a:solidFill>
                <a:latin typeface="Lucida Sans Unicode"/>
                <a:cs typeface="Lucida Sans Unicode"/>
              </a:rPr>
              <a:t>Loyalty</a:t>
            </a:r>
            <a:r>
              <a:rPr sz="1650" spc="-100" dirty="0">
                <a:solidFill>
                  <a:srgbClr val="2B3249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B3249"/>
                </a:solidFill>
                <a:latin typeface="Lucida Sans Unicode"/>
                <a:cs typeface="Lucida Sans Unicode"/>
              </a:rPr>
              <a:t>Programs</a:t>
            </a:r>
            <a:endParaRPr sz="1650">
              <a:latin typeface="Lucida Sans Unicode"/>
              <a:cs typeface="Lucida Sans Unicode"/>
            </a:endParaRPr>
          </a:p>
          <a:p>
            <a:pPr marL="12700" marR="5080">
              <a:lnSpc>
                <a:spcPct val="129600"/>
              </a:lnSpc>
              <a:spcBef>
                <a:spcPts val="464"/>
              </a:spcBef>
            </a:pPr>
            <a:r>
              <a:rPr sz="1350" spc="55" dirty="0">
                <a:solidFill>
                  <a:srgbClr val="2B3249"/>
                </a:solidFill>
                <a:latin typeface="Trebuchet MS"/>
                <a:cs typeface="Trebuchet MS"/>
              </a:rPr>
              <a:t>Reward</a:t>
            </a:r>
            <a:r>
              <a:rPr sz="1350" spc="-3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repeat</a:t>
            </a:r>
            <a:r>
              <a:rPr sz="1350" spc="-2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2B3249"/>
                </a:solidFill>
                <a:latin typeface="Trebuchet MS"/>
                <a:cs typeface="Trebuchet MS"/>
              </a:rPr>
              <a:t>buyers</a:t>
            </a:r>
            <a:r>
              <a:rPr sz="1350" spc="-2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65" dirty="0">
                <a:solidFill>
                  <a:srgbClr val="2B3249"/>
                </a:solidFill>
                <a:latin typeface="Trebuchet MS"/>
                <a:cs typeface="Trebuchet MS"/>
              </a:rPr>
              <a:t>to</a:t>
            </a:r>
            <a:r>
              <a:rPr sz="1350" spc="-2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30" dirty="0">
                <a:solidFill>
                  <a:srgbClr val="2B3249"/>
                </a:solidFill>
                <a:latin typeface="Trebuchet MS"/>
                <a:cs typeface="Trebuchet MS"/>
              </a:rPr>
              <a:t>grow 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Loyal</a:t>
            </a:r>
            <a:r>
              <a:rPr sz="1350" spc="16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2B3249"/>
                </a:solidFill>
                <a:latin typeface="Trebuchet MS"/>
                <a:cs typeface="Trebuchet MS"/>
              </a:rPr>
              <a:t>segment.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43799" y="2438399"/>
            <a:ext cx="3276600" cy="1276350"/>
          </a:xfrm>
          <a:custGeom>
            <a:avLst/>
            <a:gdLst/>
            <a:ahLst/>
            <a:cxnLst/>
            <a:rect l="l" t="t" r="r" b="b"/>
            <a:pathLst>
              <a:path w="3276600" h="1276350">
                <a:moveTo>
                  <a:pt x="0" y="1209674"/>
                </a:moveTo>
                <a:lnTo>
                  <a:pt x="0" y="66674"/>
                </a:lnTo>
                <a:lnTo>
                  <a:pt x="0" y="62297"/>
                </a:lnTo>
                <a:lnTo>
                  <a:pt x="426" y="57960"/>
                </a:lnTo>
                <a:lnTo>
                  <a:pt x="1280" y="53667"/>
                </a:lnTo>
                <a:lnTo>
                  <a:pt x="2134" y="49373"/>
                </a:lnTo>
                <a:lnTo>
                  <a:pt x="3399" y="45203"/>
                </a:lnTo>
                <a:lnTo>
                  <a:pt x="5075" y="41159"/>
                </a:lnTo>
                <a:lnTo>
                  <a:pt x="6750" y="37114"/>
                </a:lnTo>
                <a:lnTo>
                  <a:pt x="8803" y="33272"/>
                </a:lnTo>
                <a:lnTo>
                  <a:pt x="11236" y="29631"/>
                </a:lnTo>
                <a:lnTo>
                  <a:pt x="13668" y="25991"/>
                </a:lnTo>
                <a:lnTo>
                  <a:pt x="16432" y="22623"/>
                </a:lnTo>
                <a:lnTo>
                  <a:pt x="19527" y="19528"/>
                </a:lnTo>
                <a:lnTo>
                  <a:pt x="22623" y="16432"/>
                </a:lnTo>
                <a:lnTo>
                  <a:pt x="25992" y="13668"/>
                </a:lnTo>
                <a:lnTo>
                  <a:pt x="29631" y="11236"/>
                </a:lnTo>
                <a:lnTo>
                  <a:pt x="33271" y="8804"/>
                </a:lnTo>
                <a:lnTo>
                  <a:pt x="37114" y="6750"/>
                </a:lnTo>
                <a:lnTo>
                  <a:pt x="41159" y="5075"/>
                </a:lnTo>
                <a:lnTo>
                  <a:pt x="45203" y="3399"/>
                </a:lnTo>
                <a:lnTo>
                  <a:pt x="49373" y="2135"/>
                </a:lnTo>
                <a:lnTo>
                  <a:pt x="53667" y="1281"/>
                </a:lnTo>
                <a:lnTo>
                  <a:pt x="57960" y="427"/>
                </a:lnTo>
                <a:lnTo>
                  <a:pt x="62296" y="0"/>
                </a:lnTo>
                <a:lnTo>
                  <a:pt x="66674" y="0"/>
                </a:lnTo>
                <a:lnTo>
                  <a:pt x="3226116" y="0"/>
                </a:lnTo>
                <a:lnTo>
                  <a:pt x="3229431" y="0"/>
                </a:lnTo>
                <a:lnTo>
                  <a:pt x="3232714" y="323"/>
                </a:lnTo>
                <a:lnTo>
                  <a:pt x="3235965" y="970"/>
                </a:lnTo>
                <a:lnTo>
                  <a:pt x="3239216" y="1616"/>
                </a:lnTo>
                <a:lnTo>
                  <a:pt x="3261813" y="14785"/>
                </a:lnTo>
                <a:lnTo>
                  <a:pt x="3264156" y="17129"/>
                </a:lnTo>
                <a:lnTo>
                  <a:pt x="3266249" y="19679"/>
                </a:lnTo>
                <a:lnTo>
                  <a:pt x="3268089" y="22435"/>
                </a:lnTo>
                <a:lnTo>
                  <a:pt x="3269932" y="25191"/>
                </a:lnTo>
                <a:lnTo>
                  <a:pt x="3271487" y="28100"/>
                </a:lnTo>
                <a:lnTo>
                  <a:pt x="3272755" y="31163"/>
                </a:lnTo>
                <a:lnTo>
                  <a:pt x="3274024" y="34225"/>
                </a:lnTo>
                <a:lnTo>
                  <a:pt x="3274982" y="37382"/>
                </a:lnTo>
                <a:lnTo>
                  <a:pt x="3275628" y="40633"/>
                </a:lnTo>
                <a:lnTo>
                  <a:pt x="3276275" y="43884"/>
                </a:lnTo>
                <a:lnTo>
                  <a:pt x="3276598" y="47167"/>
                </a:lnTo>
                <a:lnTo>
                  <a:pt x="3276599" y="50482"/>
                </a:lnTo>
                <a:lnTo>
                  <a:pt x="3276599" y="1225867"/>
                </a:lnTo>
                <a:lnTo>
                  <a:pt x="3276598" y="1229182"/>
                </a:lnTo>
                <a:lnTo>
                  <a:pt x="3276275" y="1232464"/>
                </a:lnTo>
                <a:lnTo>
                  <a:pt x="3275628" y="1235715"/>
                </a:lnTo>
                <a:lnTo>
                  <a:pt x="3274982" y="1238966"/>
                </a:lnTo>
                <a:lnTo>
                  <a:pt x="3251407" y="1269683"/>
                </a:lnTo>
                <a:lnTo>
                  <a:pt x="3245434" y="1272506"/>
                </a:lnTo>
                <a:lnTo>
                  <a:pt x="3242372" y="1273775"/>
                </a:lnTo>
                <a:lnTo>
                  <a:pt x="3239216" y="1274732"/>
                </a:lnTo>
                <a:lnTo>
                  <a:pt x="3235963" y="1275379"/>
                </a:lnTo>
                <a:lnTo>
                  <a:pt x="3232714" y="1276026"/>
                </a:lnTo>
                <a:lnTo>
                  <a:pt x="3229431" y="1276349"/>
                </a:lnTo>
                <a:lnTo>
                  <a:pt x="3226116" y="1276349"/>
                </a:lnTo>
                <a:lnTo>
                  <a:pt x="66674" y="1276349"/>
                </a:lnTo>
                <a:lnTo>
                  <a:pt x="62296" y="1276349"/>
                </a:lnTo>
                <a:lnTo>
                  <a:pt x="57960" y="1275922"/>
                </a:lnTo>
                <a:lnTo>
                  <a:pt x="53667" y="1275068"/>
                </a:lnTo>
                <a:lnTo>
                  <a:pt x="49373" y="1274214"/>
                </a:lnTo>
                <a:lnTo>
                  <a:pt x="16432" y="1253724"/>
                </a:lnTo>
                <a:lnTo>
                  <a:pt x="5074" y="1235189"/>
                </a:lnTo>
                <a:lnTo>
                  <a:pt x="3399" y="1231144"/>
                </a:lnTo>
                <a:lnTo>
                  <a:pt x="2134" y="1226975"/>
                </a:lnTo>
                <a:lnTo>
                  <a:pt x="1280" y="1222681"/>
                </a:lnTo>
                <a:lnTo>
                  <a:pt x="426" y="1218388"/>
                </a:lnTo>
                <a:lnTo>
                  <a:pt x="0" y="1214052"/>
                </a:lnTo>
                <a:lnTo>
                  <a:pt x="0" y="1209674"/>
                </a:lnTo>
                <a:close/>
              </a:path>
            </a:pathLst>
          </a:custGeom>
          <a:ln w="19049">
            <a:solidFill>
              <a:srgbClr val="C4D1C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788275" y="2453084"/>
            <a:ext cx="2727325" cy="102298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spc="-60" dirty="0">
                <a:solidFill>
                  <a:srgbClr val="2B3249"/>
                </a:solidFill>
                <a:latin typeface="Lucida Sans Unicode"/>
                <a:cs typeface="Lucida Sans Unicode"/>
              </a:rPr>
              <a:t>Review</a:t>
            </a:r>
            <a:r>
              <a:rPr sz="1650" spc="-85" dirty="0">
                <a:solidFill>
                  <a:srgbClr val="2B3249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B3249"/>
                </a:solidFill>
                <a:latin typeface="Lucida Sans Unicode"/>
                <a:cs typeface="Lucida Sans Unicode"/>
              </a:rPr>
              <a:t>Discounts</a:t>
            </a:r>
            <a:endParaRPr sz="1650">
              <a:latin typeface="Lucida Sans Unicode"/>
              <a:cs typeface="Lucida Sans Unicode"/>
            </a:endParaRPr>
          </a:p>
          <a:p>
            <a:pPr marL="12700" marR="5080">
              <a:lnSpc>
                <a:spcPct val="129600"/>
              </a:lnSpc>
              <a:spcBef>
                <a:spcPts val="464"/>
              </a:spcBef>
            </a:pP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Balance</a:t>
            </a:r>
            <a:r>
              <a:rPr sz="1350" spc="5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sales</a:t>
            </a:r>
            <a:r>
              <a:rPr sz="1350" spc="6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80" dirty="0">
                <a:solidFill>
                  <a:srgbClr val="2B3249"/>
                </a:solidFill>
                <a:latin typeface="Trebuchet MS"/>
                <a:cs typeface="Trebuchet MS"/>
              </a:rPr>
              <a:t>boosts</a:t>
            </a:r>
            <a:r>
              <a:rPr sz="1350" spc="6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50" dirty="0">
                <a:solidFill>
                  <a:srgbClr val="2B3249"/>
                </a:solidFill>
                <a:latin typeface="Trebuchet MS"/>
                <a:cs typeface="Trebuchet MS"/>
              </a:rPr>
              <a:t>with</a:t>
            </a:r>
            <a:r>
              <a:rPr sz="1350" spc="5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2B3249"/>
                </a:solidFill>
                <a:latin typeface="Trebuchet MS"/>
                <a:cs typeface="Trebuchet MS"/>
              </a:rPr>
              <a:t>margin control.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9599" y="3905249"/>
            <a:ext cx="3276600" cy="1285875"/>
          </a:xfrm>
          <a:custGeom>
            <a:avLst/>
            <a:gdLst/>
            <a:ahLst/>
            <a:cxnLst/>
            <a:rect l="l" t="t" r="r" b="b"/>
            <a:pathLst>
              <a:path w="3276600" h="1285875">
                <a:moveTo>
                  <a:pt x="0" y="1219199"/>
                </a:moveTo>
                <a:lnTo>
                  <a:pt x="0" y="66674"/>
                </a:lnTo>
                <a:lnTo>
                  <a:pt x="0" y="62297"/>
                </a:lnTo>
                <a:lnTo>
                  <a:pt x="427" y="57960"/>
                </a:lnTo>
                <a:lnTo>
                  <a:pt x="1281" y="53667"/>
                </a:lnTo>
                <a:lnTo>
                  <a:pt x="2135" y="49373"/>
                </a:lnTo>
                <a:lnTo>
                  <a:pt x="3399" y="45203"/>
                </a:lnTo>
                <a:lnTo>
                  <a:pt x="5075" y="41159"/>
                </a:lnTo>
                <a:lnTo>
                  <a:pt x="6750" y="37114"/>
                </a:lnTo>
                <a:lnTo>
                  <a:pt x="8804" y="33272"/>
                </a:lnTo>
                <a:lnTo>
                  <a:pt x="11236" y="29632"/>
                </a:lnTo>
                <a:lnTo>
                  <a:pt x="13668" y="25992"/>
                </a:lnTo>
                <a:lnTo>
                  <a:pt x="16432" y="22624"/>
                </a:lnTo>
                <a:lnTo>
                  <a:pt x="19528" y="19528"/>
                </a:lnTo>
                <a:lnTo>
                  <a:pt x="22624" y="16432"/>
                </a:lnTo>
                <a:lnTo>
                  <a:pt x="25992" y="13668"/>
                </a:lnTo>
                <a:lnTo>
                  <a:pt x="29632" y="11236"/>
                </a:lnTo>
                <a:lnTo>
                  <a:pt x="33272" y="8804"/>
                </a:lnTo>
                <a:lnTo>
                  <a:pt x="37114" y="6750"/>
                </a:lnTo>
                <a:lnTo>
                  <a:pt x="41159" y="5075"/>
                </a:lnTo>
                <a:lnTo>
                  <a:pt x="45204" y="3399"/>
                </a:lnTo>
                <a:lnTo>
                  <a:pt x="49373" y="2135"/>
                </a:lnTo>
                <a:lnTo>
                  <a:pt x="53667" y="1281"/>
                </a:lnTo>
                <a:lnTo>
                  <a:pt x="57961" y="427"/>
                </a:lnTo>
                <a:lnTo>
                  <a:pt x="62297" y="0"/>
                </a:lnTo>
                <a:lnTo>
                  <a:pt x="66675" y="0"/>
                </a:lnTo>
                <a:lnTo>
                  <a:pt x="3226117" y="0"/>
                </a:lnTo>
                <a:lnTo>
                  <a:pt x="3229431" y="0"/>
                </a:lnTo>
                <a:lnTo>
                  <a:pt x="3232714" y="323"/>
                </a:lnTo>
                <a:lnTo>
                  <a:pt x="3254163" y="8507"/>
                </a:lnTo>
                <a:lnTo>
                  <a:pt x="3256919" y="10348"/>
                </a:lnTo>
                <a:lnTo>
                  <a:pt x="3259470" y="12441"/>
                </a:lnTo>
                <a:lnTo>
                  <a:pt x="3261813" y="14785"/>
                </a:lnTo>
                <a:lnTo>
                  <a:pt x="3264157" y="17129"/>
                </a:lnTo>
                <a:lnTo>
                  <a:pt x="3272756" y="31163"/>
                </a:lnTo>
                <a:lnTo>
                  <a:pt x="3274025" y="34225"/>
                </a:lnTo>
                <a:lnTo>
                  <a:pt x="3274982" y="37382"/>
                </a:lnTo>
                <a:lnTo>
                  <a:pt x="3275629" y="40633"/>
                </a:lnTo>
                <a:lnTo>
                  <a:pt x="3276276" y="43884"/>
                </a:lnTo>
                <a:lnTo>
                  <a:pt x="3276599" y="47167"/>
                </a:lnTo>
                <a:lnTo>
                  <a:pt x="3276599" y="50482"/>
                </a:lnTo>
                <a:lnTo>
                  <a:pt x="3276599" y="1235392"/>
                </a:lnTo>
                <a:lnTo>
                  <a:pt x="3276599" y="1238706"/>
                </a:lnTo>
                <a:lnTo>
                  <a:pt x="3276276" y="1241989"/>
                </a:lnTo>
                <a:lnTo>
                  <a:pt x="3275629" y="1245240"/>
                </a:lnTo>
                <a:lnTo>
                  <a:pt x="3274983" y="1248492"/>
                </a:lnTo>
                <a:lnTo>
                  <a:pt x="3274025" y="1251649"/>
                </a:lnTo>
                <a:lnTo>
                  <a:pt x="3272756" y="1254711"/>
                </a:lnTo>
                <a:lnTo>
                  <a:pt x="3271488" y="1257773"/>
                </a:lnTo>
                <a:lnTo>
                  <a:pt x="3245435" y="1282031"/>
                </a:lnTo>
                <a:lnTo>
                  <a:pt x="3242373" y="1283300"/>
                </a:lnTo>
                <a:lnTo>
                  <a:pt x="3239216" y="1284258"/>
                </a:lnTo>
                <a:lnTo>
                  <a:pt x="3235965" y="1284904"/>
                </a:lnTo>
                <a:lnTo>
                  <a:pt x="3232714" y="1285551"/>
                </a:lnTo>
                <a:lnTo>
                  <a:pt x="3229431" y="1285874"/>
                </a:lnTo>
                <a:lnTo>
                  <a:pt x="3226117" y="1285874"/>
                </a:lnTo>
                <a:lnTo>
                  <a:pt x="66675" y="1285874"/>
                </a:lnTo>
                <a:lnTo>
                  <a:pt x="62297" y="1285874"/>
                </a:lnTo>
                <a:lnTo>
                  <a:pt x="57961" y="1285447"/>
                </a:lnTo>
                <a:lnTo>
                  <a:pt x="53667" y="1284593"/>
                </a:lnTo>
                <a:lnTo>
                  <a:pt x="49373" y="1283739"/>
                </a:lnTo>
                <a:lnTo>
                  <a:pt x="16432" y="1263250"/>
                </a:lnTo>
                <a:lnTo>
                  <a:pt x="5075" y="1244714"/>
                </a:lnTo>
                <a:lnTo>
                  <a:pt x="3399" y="1240670"/>
                </a:lnTo>
                <a:lnTo>
                  <a:pt x="2135" y="1236500"/>
                </a:lnTo>
                <a:lnTo>
                  <a:pt x="1281" y="1232207"/>
                </a:lnTo>
                <a:lnTo>
                  <a:pt x="427" y="1227913"/>
                </a:lnTo>
                <a:lnTo>
                  <a:pt x="0" y="1223577"/>
                </a:lnTo>
                <a:lnTo>
                  <a:pt x="0" y="1219199"/>
                </a:lnTo>
                <a:close/>
              </a:path>
            </a:pathLst>
          </a:custGeom>
          <a:ln w="19049">
            <a:solidFill>
              <a:srgbClr val="C4D1C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54075" y="3919933"/>
            <a:ext cx="2373630" cy="103251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>
              <a:lnSpc>
                <a:spcPct val="141000"/>
              </a:lnSpc>
              <a:spcBef>
                <a:spcPts val="495"/>
              </a:spcBef>
            </a:pPr>
            <a:r>
              <a:rPr sz="1650" spc="-60" dirty="0">
                <a:solidFill>
                  <a:srgbClr val="2B3249"/>
                </a:solidFill>
                <a:latin typeface="Lucida Sans Unicode"/>
                <a:cs typeface="Lucida Sans Unicode"/>
              </a:rPr>
              <a:t>Product</a:t>
            </a:r>
            <a:r>
              <a:rPr sz="1650" spc="-75" dirty="0">
                <a:solidFill>
                  <a:srgbClr val="2B3249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B3249"/>
                </a:solidFill>
                <a:latin typeface="Lucida Sans Unicode"/>
                <a:cs typeface="Lucida Sans Unicode"/>
              </a:rPr>
              <a:t>Positioning </a:t>
            </a:r>
            <a:r>
              <a:rPr sz="1350" spc="50" dirty="0">
                <a:solidFill>
                  <a:srgbClr val="2B3249"/>
                </a:solidFill>
                <a:latin typeface="Trebuchet MS"/>
                <a:cs typeface="Trebuchet MS"/>
              </a:rPr>
              <a:t>Highlight</a:t>
            </a:r>
            <a:r>
              <a:rPr sz="1350" spc="1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top-rated </a:t>
            </a:r>
            <a:r>
              <a:rPr sz="1350" spc="55" dirty="0">
                <a:solidFill>
                  <a:srgbClr val="2B3249"/>
                </a:solidFill>
                <a:latin typeface="Trebuchet MS"/>
                <a:cs typeface="Trebuchet MS"/>
              </a:rPr>
              <a:t>and</a:t>
            </a:r>
            <a:r>
              <a:rPr sz="1350" spc="1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2B3249"/>
                </a:solidFill>
                <a:latin typeface="Trebuchet MS"/>
                <a:cs typeface="Trebuchet MS"/>
              </a:rPr>
              <a:t>best-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selling</a:t>
            </a:r>
            <a:r>
              <a:rPr sz="1350" spc="14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2B3249"/>
                </a:solidFill>
                <a:latin typeface="Trebuchet MS"/>
                <a:cs typeface="Trebuchet MS"/>
              </a:rPr>
              <a:t>products.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76699" y="3905249"/>
            <a:ext cx="3276600" cy="1285875"/>
          </a:xfrm>
          <a:custGeom>
            <a:avLst/>
            <a:gdLst/>
            <a:ahLst/>
            <a:cxnLst/>
            <a:rect l="l" t="t" r="r" b="b"/>
            <a:pathLst>
              <a:path w="3276600" h="1285875">
                <a:moveTo>
                  <a:pt x="0" y="1219199"/>
                </a:moveTo>
                <a:lnTo>
                  <a:pt x="0" y="66674"/>
                </a:lnTo>
                <a:lnTo>
                  <a:pt x="0" y="62297"/>
                </a:lnTo>
                <a:lnTo>
                  <a:pt x="427" y="57960"/>
                </a:lnTo>
                <a:lnTo>
                  <a:pt x="1281" y="53667"/>
                </a:lnTo>
                <a:lnTo>
                  <a:pt x="2135" y="49373"/>
                </a:lnTo>
                <a:lnTo>
                  <a:pt x="3399" y="45203"/>
                </a:lnTo>
                <a:lnTo>
                  <a:pt x="5075" y="41159"/>
                </a:lnTo>
                <a:lnTo>
                  <a:pt x="6750" y="37114"/>
                </a:lnTo>
                <a:lnTo>
                  <a:pt x="8804" y="33272"/>
                </a:lnTo>
                <a:lnTo>
                  <a:pt x="11236" y="29632"/>
                </a:lnTo>
                <a:lnTo>
                  <a:pt x="13668" y="25992"/>
                </a:lnTo>
                <a:lnTo>
                  <a:pt x="16433" y="22624"/>
                </a:lnTo>
                <a:lnTo>
                  <a:pt x="19528" y="19528"/>
                </a:lnTo>
                <a:lnTo>
                  <a:pt x="22624" y="16432"/>
                </a:lnTo>
                <a:lnTo>
                  <a:pt x="25992" y="13668"/>
                </a:lnTo>
                <a:lnTo>
                  <a:pt x="29632" y="11236"/>
                </a:lnTo>
                <a:lnTo>
                  <a:pt x="33272" y="8804"/>
                </a:lnTo>
                <a:lnTo>
                  <a:pt x="37114" y="6750"/>
                </a:lnTo>
                <a:lnTo>
                  <a:pt x="41159" y="5075"/>
                </a:lnTo>
                <a:lnTo>
                  <a:pt x="45203" y="3399"/>
                </a:lnTo>
                <a:lnTo>
                  <a:pt x="49373" y="2135"/>
                </a:lnTo>
                <a:lnTo>
                  <a:pt x="53667" y="1281"/>
                </a:lnTo>
                <a:lnTo>
                  <a:pt x="57961" y="427"/>
                </a:lnTo>
                <a:lnTo>
                  <a:pt x="62297" y="0"/>
                </a:lnTo>
                <a:lnTo>
                  <a:pt x="66675" y="0"/>
                </a:lnTo>
                <a:lnTo>
                  <a:pt x="3226117" y="0"/>
                </a:lnTo>
                <a:lnTo>
                  <a:pt x="3229431" y="0"/>
                </a:lnTo>
                <a:lnTo>
                  <a:pt x="3232714" y="323"/>
                </a:lnTo>
                <a:lnTo>
                  <a:pt x="3235965" y="970"/>
                </a:lnTo>
                <a:lnTo>
                  <a:pt x="3239216" y="1616"/>
                </a:lnTo>
                <a:lnTo>
                  <a:pt x="3268091" y="22435"/>
                </a:lnTo>
                <a:lnTo>
                  <a:pt x="3269933" y="25191"/>
                </a:lnTo>
                <a:lnTo>
                  <a:pt x="3271488" y="28100"/>
                </a:lnTo>
                <a:lnTo>
                  <a:pt x="3272756" y="31163"/>
                </a:lnTo>
                <a:lnTo>
                  <a:pt x="3274025" y="34225"/>
                </a:lnTo>
                <a:lnTo>
                  <a:pt x="3274982" y="37382"/>
                </a:lnTo>
                <a:lnTo>
                  <a:pt x="3275629" y="40633"/>
                </a:lnTo>
                <a:lnTo>
                  <a:pt x="3276276" y="43884"/>
                </a:lnTo>
                <a:lnTo>
                  <a:pt x="3276600" y="47167"/>
                </a:lnTo>
                <a:lnTo>
                  <a:pt x="3276600" y="50482"/>
                </a:lnTo>
                <a:lnTo>
                  <a:pt x="3276600" y="1235392"/>
                </a:lnTo>
                <a:lnTo>
                  <a:pt x="3276600" y="1238706"/>
                </a:lnTo>
                <a:lnTo>
                  <a:pt x="3276276" y="1241989"/>
                </a:lnTo>
                <a:lnTo>
                  <a:pt x="3275630" y="1245240"/>
                </a:lnTo>
                <a:lnTo>
                  <a:pt x="3274983" y="1248492"/>
                </a:lnTo>
                <a:lnTo>
                  <a:pt x="3274025" y="1251649"/>
                </a:lnTo>
                <a:lnTo>
                  <a:pt x="3272757" y="1254711"/>
                </a:lnTo>
                <a:lnTo>
                  <a:pt x="3271488" y="1257773"/>
                </a:lnTo>
                <a:lnTo>
                  <a:pt x="3269933" y="1260682"/>
                </a:lnTo>
                <a:lnTo>
                  <a:pt x="3268091" y="1263439"/>
                </a:lnTo>
                <a:lnTo>
                  <a:pt x="3266250" y="1266194"/>
                </a:lnTo>
                <a:lnTo>
                  <a:pt x="3245435" y="1282031"/>
                </a:lnTo>
                <a:lnTo>
                  <a:pt x="3242373" y="1283300"/>
                </a:lnTo>
                <a:lnTo>
                  <a:pt x="3239216" y="1284258"/>
                </a:lnTo>
                <a:lnTo>
                  <a:pt x="3235965" y="1284904"/>
                </a:lnTo>
                <a:lnTo>
                  <a:pt x="3232714" y="1285551"/>
                </a:lnTo>
                <a:lnTo>
                  <a:pt x="3229431" y="1285874"/>
                </a:lnTo>
                <a:lnTo>
                  <a:pt x="3226117" y="1285874"/>
                </a:lnTo>
                <a:lnTo>
                  <a:pt x="66675" y="1285874"/>
                </a:lnTo>
                <a:lnTo>
                  <a:pt x="62297" y="1285874"/>
                </a:lnTo>
                <a:lnTo>
                  <a:pt x="57961" y="1285447"/>
                </a:lnTo>
                <a:lnTo>
                  <a:pt x="53667" y="1284593"/>
                </a:lnTo>
                <a:lnTo>
                  <a:pt x="49373" y="1283739"/>
                </a:lnTo>
                <a:lnTo>
                  <a:pt x="19528" y="1266345"/>
                </a:lnTo>
                <a:lnTo>
                  <a:pt x="16433" y="1263250"/>
                </a:lnTo>
                <a:lnTo>
                  <a:pt x="5075" y="1244714"/>
                </a:lnTo>
                <a:lnTo>
                  <a:pt x="3399" y="1240670"/>
                </a:lnTo>
                <a:lnTo>
                  <a:pt x="2135" y="1236500"/>
                </a:lnTo>
                <a:lnTo>
                  <a:pt x="1281" y="1232207"/>
                </a:lnTo>
                <a:lnTo>
                  <a:pt x="427" y="1227913"/>
                </a:lnTo>
                <a:lnTo>
                  <a:pt x="0" y="1223577"/>
                </a:lnTo>
                <a:lnTo>
                  <a:pt x="0" y="1219199"/>
                </a:lnTo>
                <a:close/>
              </a:path>
            </a:pathLst>
          </a:custGeom>
          <a:ln w="19049">
            <a:solidFill>
              <a:srgbClr val="C4D1C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321175" y="3919933"/>
            <a:ext cx="2778760" cy="103251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spc="-85" dirty="0">
                <a:solidFill>
                  <a:srgbClr val="2B3249"/>
                </a:solidFill>
                <a:latin typeface="Lucida Sans Unicode"/>
                <a:cs typeface="Lucida Sans Unicode"/>
              </a:rPr>
              <a:t>Targeted</a:t>
            </a:r>
            <a:r>
              <a:rPr sz="1650" spc="-65" dirty="0">
                <a:solidFill>
                  <a:srgbClr val="2B3249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2B3249"/>
                </a:solidFill>
                <a:latin typeface="Lucida Sans Unicode"/>
                <a:cs typeface="Lucida Sans Unicode"/>
              </a:rPr>
              <a:t>Marketing</a:t>
            </a:r>
            <a:endParaRPr sz="1650">
              <a:latin typeface="Lucida Sans Unicode"/>
              <a:cs typeface="Lucida Sans Unicode"/>
            </a:endParaRPr>
          </a:p>
          <a:p>
            <a:pPr marL="12700" marR="5080">
              <a:lnSpc>
                <a:spcPct val="134300"/>
              </a:lnSpc>
              <a:spcBef>
                <a:spcPts val="385"/>
              </a:spcBef>
            </a:pPr>
            <a:r>
              <a:rPr sz="1350" spc="65" dirty="0">
                <a:solidFill>
                  <a:srgbClr val="2B3249"/>
                </a:solidFill>
                <a:latin typeface="Trebuchet MS"/>
                <a:cs typeface="Trebuchet MS"/>
              </a:rPr>
              <a:t>Focus</a:t>
            </a:r>
            <a:r>
              <a:rPr sz="1350" spc="4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85" dirty="0">
                <a:solidFill>
                  <a:srgbClr val="2B3249"/>
                </a:solidFill>
                <a:latin typeface="Trebuchet MS"/>
                <a:cs typeface="Trebuchet MS"/>
              </a:rPr>
              <a:t>on</a:t>
            </a:r>
            <a:r>
              <a:rPr sz="1350" spc="50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high-revenue</a:t>
            </a:r>
            <a:r>
              <a:rPr sz="1350" spc="4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2B3249"/>
                </a:solidFill>
                <a:latin typeface="Trebuchet MS"/>
                <a:cs typeface="Trebuchet MS"/>
              </a:rPr>
              <a:t>age</a:t>
            </a:r>
            <a:r>
              <a:rPr sz="1350" spc="50" dirty="0">
                <a:solidFill>
                  <a:srgbClr val="2B3249"/>
                </a:solidFill>
                <a:latin typeface="Trebuchet MS"/>
                <a:cs typeface="Trebuchet MS"/>
              </a:rPr>
              <a:t> groups </a:t>
            </a:r>
            <a:r>
              <a:rPr sz="1350" spc="55" dirty="0">
                <a:solidFill>
                  <a:srgbClr val="2B3249"/>
                </a:solidFill>
                <a:latin typeface="Trebuchet MS"/>
                <a:cs typeface="Trebuchet MS"/>
              </a:rPr>
              <a:t>and</a:t>
            </a:r>
            <a:r>
              <a:rPr sz="1350" spc="-6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2B3249"/>
                </a:solidFill>
                <a:latin typeface="Trebuchet MS"/>
                <a:cs typeface="Trebuchet MS"/>
              </a:rPr>
              <a:t>express</a:t>
            </a:r>
            <a:r>
              <a:rPr sz="1350" spc="-65" dirty="0">
                <a:solidFill>
                  <a:srgbClr val="2B3249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2B3249"/>
                </a:solidFill>
                <a:latin typeface="Trebuchet MS"/>
                <a:cs typeface="Trebuchet MS"/>
              </a:rPr>
              <a:t>users.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00074" y="2428874"/>
            <a:ext cx="76200" cy="1295400"/>
          </a:xfrm>
          <a:custGeom>
            <a:avLst/>
            <a:gdLst/>
            <a:ahLst/>
            <a:cxnLst/>
            <a:rect l="l" t="t" r="r" b="b"/>
            <a:pathLst>
              <a:path w="76200" h="1295400">
                <a:moveTo>
                  <a:pt x="76200" y="1295399"/>
                </a:moveTo>
                <a:lnTo>
                  <a:pt x="56067" y="1295399"/>
                </a:lnTo>
                <a:lnTo>
                  <a:pt x="52165" y="1295015"/>
                </a:lnTo>
                <a:lnTo>
                  <a:pt x="14789" y="1275037"/>
                </a:lnTo>
                <a:lnTo>
                  <a:pt x="0" y="1239332"/>
                </a:lnTo>
                <a:lnTo>
                  <a:pt x="0" y="1235392"/>
                </a:lnTo>
                <a:lnTo>
                  <a:pt x="0" y="56067"/>
                </a:lnTo>
                <a:lnTo>
                  <a:pt x="14789" y="20361"/>
                </a:lnTo>
                <a:lnTo>
                  <a:pt x="52165" y="384"/>
                </a:lnTo>
                <a:lnTo>
                  <a:pt x="56067" y="0"/>
                </a:lnTo>
                <a:lnTo>
                  <a:pt x="76200" y="0"/>
                </a:lnTo>
                <a:lnTo>
                  <a:pt x="76200" y="1295399"/>
                </a:lnTo>
                <a:close/>
              </a:path>
            </a:pathLst>
          </a:custGeom>
          <a:solidFill>
            <a:srgbClr val="426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67174" y="2428874"/>
            <a:ext cx="76200" cy="1295400"/>
          </a:xfrm>
          <a:custGeom>
            <a:avLst/>
            <a:gdLst/>
            <a:ahLst/>
            <a:cxnLst/>
            <a:rect l="l" t="t" r="r" b="b"/>
            <a:pathLst>
              <a:path w="76200" h="1295400">
                <a:moveTo>
                  <a:pt x="76200" y="1295399"/>
                </a:moveTo>
                <a:lnTo>
                  <a:pt x="56067" y="1295399"/>
                </a:lnTo>
                <a:lnTo>
                  <a:pt x="52165" y="1295015"/>
                </a:lnTo>
                <a:lnTo>
                  <a:pt x="14789" y="1275037"/>
                </a:lnTo>
                <a:lnTo>
                  <a:pt x="0" y="1239332"/>
                </a:lnTo>
                <a:lnTo>
                  <a:pt x="0" y="1235392"/>
                </a:lnTo>
                <a:lnTo>
                  <a:pt x="0" y="56067"/>
                </a:lnTo>
                <a:lnTo>
                  <a:pt x="14789" y="20361"/>
                </a:lnTo>
                <a:lnTo>
                  <a:pt x="52165" y="384"/>
                </a:lnTo>
                <a:lnTo>
                  <a:pt x="56067" y="0"/>
                </a:lnTo>
                <a:lnTo>
                  <a:pt x="76200" y="0"/>
                </a:lnTo>
                <a:lnTo>
                  <a:pt x="76200" y="1295399"/>
                </a:lnTo>
                <a:close/>
              </a:path>
            </a:pathLst>
          </a:custGeom>
          <a:solidFill>
            <a:srgbClr val="426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34274" y="2428874"/>
            <a:ext cx="76200" cy="1295400"/>
          </a:xfrm>
          <a:custGeom>
            <a:avLst/>
            <a:gdLst/>
            <a:ahLst/>
            <a:cxnLst/>
            <a:rect l="l" t="t" r="r" b="b"/>
            <a:pathLst>
              <a:path w="76200" h="1295400">
                <a:moveTo>
                  <a:pt x="76199" y="1295399"/>
                </a:moveTo>
                <a:lnTo>
                  <a:pt x="56067" y="1295399"/>
                </a:lnTo>
                <a:lnTo>
                  <a:pt x="52164" y="1295015"/>
                </a:lnTo>
                <a:lnTo>
                  <a:pt x="14788" y="1275037"/>
                </a:lnTo>
                <a:lnTo>
                  <a:pt x="0" y="1239332"/>
                </a:lnTo>
                <a:lnTo>
                  <a:pt x="0" y="1235392"/>
                </a:lnTo>
                <a:lnTo>
                  <a:pt x="0" y="56067"/>
                </a:lnTo>
                <a:lnTo>
                  <a:pt x="14788" y="20361"/>
                </a:lnTo>
                <a:lnTo>
                  <a:pt x="52164" y="384"/>
                </a:lnTo>
                <a:lnTo>
                  <a:pt x="56067" y="0"/>
                </a:lnTo>
                <a:lnTo>
                  <a:pt x="76199" y="0"/>
                </a:lnTo>
                <a:lnTo>
                  <a:pt x="76199" y="1295399"/>
                </a:lnTo>
                <a:close/>
              </a:path>
            </a:pathLst>
          </a:custGeom>
          <a:solidFill>
            <a:srgbClr val="426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0074" y="3895724"/>
            <a:ext cx="76200" cy="1304925"/>
          </a:xfrm>
          <a:custGeom>
            <a:avLst/>
            <a:gdLst/>
            <a:ahLst/>
            <a:cxnLst/>
            <a:rect l="l" t="t" r="r" b="b"/>
            <a:pathLst>
              <a:path w="76200" h="1304925">
                <a:moveTo>
                  <a:pt x="76200" y="1304924"/>
                </a:moveTo>
                <a:lnTo>
                  <a:pt x="56067" y="1304924"/>
                </a:lnTo>
                <a:lnTo>
                  <a:pt x="52165" y="1304540"/>
                </a:lnTo>
                <a:lnTo>
                  <a:pt x="14789" y="1284562"/>
                </a:lnTo>
                <a:lnTo>
                  <a:pt x="0" y="1248857"/>
                </a:lnTo>
                <a:lnTo>
                  <a:pt x="0" y="1244917"/>
                </a:lnTo>
                <a:lnTo>
                  <a:pt x="0" y="56067"/>
                </a:lnTo>
                <a:lnTo>
                  <a:pt x="14789" y="20361"/>
                </a:lnTo>
                <a:lnTo>
                  <a:pt x="52165" y="384"/>
                </a:lnTo>
                <a:lnTo>
                  <a:pt x="76200" y="0"/>
                </a:lnTo>
                <a:lnTo>
                  <a:pt x="76200" y="1304924"/>
                </a:lnTo>
                <a:close/>
              </a:path>
            </a:pathLst>
          </a:custGeom>
          <a:solidFill>
            <a:srgbClr val="426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67174" y="3895724"/>
            <a:ext cx="76200" cy="1304925"/>
          </a:xfrm>
          <a:custGeom>
            <a:avLst/>
            <a:gdLst/>
            <a:ahLst/>
            <a:cxnLst/>
            <a:rect l="l" t="t" r="r" b="b"/>
            <a:pathLst>
              <a:path w="76200" h="1304925">
                <a:moveTo>
                  <a:pt x="76200" y="1304924"/>
                </a:moveTo>
                <a:lnTo>
                  <a:pt x="56067" y="1304924"/>
                </a:lnTo>
                <a:lnTo>
                  <a:pt x="52165" y="1304540"/>
                </a:lnTo>
                <a:lnTo>
                  <a:pt x="14789" y="1284562"/>
                </a:lnTo>
                <a:lnTo>
                  <a:pt x="0" y="1248857"/>
                </a:lnTo>
                <a:lnTo>
                  <a:pt x="0" y="1244917"/>
                </a:lnTo>
                <a:lnTo>
                  <a:pt x="0" y="56067"/>
                </a:lnTo>
                <a:lnTo>
                  <a:pt x="14789" y="20361"/>
                </a:lnTo>
                <a:lnTo>
                  <a:pt x="52165" y="384"/>
                </a:lnTo>
                <a:lnTo>
                  <a:pt x="76200" y="0"/>
                </a:lnTo>
                <a:lnTo>
                  <a:pt x="76200" y="1304924"/>
                </a:lnTo>
                <a:close/>
              </a:path>
            </a:pathLst>
          </a:custGeom>
          <a:solidFill>
            <a:srgbClr val="426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ADB1AE2-24C2-764D-14BD-985F65E687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5516798"/>
            <a:ext cx="4800600" cy="922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420</Words>
  <Application>Microsoft Office PowerPoint</Application>
  <PresentationFormat>Custom</PresentationFormat>
  <Paragraphs>126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Lucida Sans Unicode</vt:lpstr>
      <vt:lpstr>Tahoma</vt:lpstr>
      <vt:lpstr>Times New Roman</vt:lpstr>
      <vt:lpstr>Trebuchet MS</vt:lpstr>
      <vt:lpstr>Office Theme</vt:lpstr>
      <vt:lpstr>Customer Shopping Behavior Analysis</vt:lpstr>
      <vt:lpstr>Inside the Data</vt:lpstr>
      <vt:lpstr>Python EDA Pipeline</vt:lpstr>
      <vt:lpstr>Revenue by Gender</vt:lpstr>
      <vt:lpstr>Top-Rated &amp; Discount-Dependent Products</vt:lpstr>
      <vt:lpstr>Customer Segmentation</vt:lpstr>
      <vt:lpstr>Revenue by Age Group</vt:lpstr>
      <vt:lpstr>Top Products per Category</vt:lpstr>
      <vt:lpstr>Subscription Status</vt:lpstr>
      <vt:lpstr>Strategic Actions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CHATARASUPALLI SAKETH RAMAN</dc:creator>
  <cp:lastModifiedBy>CHATARASUPALLI SAKETH RAMAN</cp:lastModifiedBy>
  <cp:revision>1</cp:revision>
  <dcterms:created xsi:type="dcterms:W3CDTF">2026-06-28T07:02:29Z</dcterms:created>
  <dcterms:modified xsi:type="dcterms:W3CDTF">2026-06-28T07:04:44Z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2026-06-27T00:00:00Z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2026-06-28T00:00:00Z</vt:filetime>
  </property>
  <property fmtid="{D5CDD505-2E9C-101B-9397-08002B2CF9AE}" pid="6" name="Producer">
    <vt:lpwstr>pdf-lib (https://github.com/Hopding/pdf-lib)</vt:lpwstr>
  </property>
</Properties>
</file>